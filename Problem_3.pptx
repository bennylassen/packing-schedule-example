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0" r:id="rId3"/>
    <p:sldId id="386" r:id="rId4"/>
    <p:sldId id="385" r:id="rId5"/>
    <p:sldId id="381" r:id="rId6"/>
    <p:sldId id="382" r:id="rId7"/>
    <p:sldId id="387" r:id="rId8"/>
    <p:sldId id="390" r:id="rId9"/>
    <p:sldId id="388" r:id="rId10"/>
    <p:sldId id="389" r:id="rId11"/>
    <p:sldId id="383" r:id="rId1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7" autoAdjust="0"/>
    <p:restoredTop sz="94660"/>
  </p:normalViewPr>
  <p:slideViewPr>
    <p:cSldViewPr snapToGrid="0">
      <p:cViewPr varScale="1">
        <p:scale>
          <a:sx n="96" d="100"/>
          <a:sy n="96" d="100"/>
        </p:scale>
        <p:origin x="38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60A5-2915-9A86-098E-E9583C84C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DE187-B506-2039-8D82-D93C2F8A8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D60F4-4866-7520-8318-AB182A62A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62612-E761-1022-C966-69F8D5E93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ED014-33E1-135A-CFC8-25E7E5A7D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8398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D6FF8-43C6-F582-DB97-2BDBEEA1A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B5918-6D65-0CF9-4566-D23BE5F2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911-3625-E906-AC44-E40BFF5D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E9E6F-2F0D-35AE-0DC2-109DAF65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0458E-5A6A-AD59-4BA3-B0D1BA297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19401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2D36E-F810-A668-C0A6-3AA1A1C9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74BD4-7DBC-40C4-7D5A-C751ED208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9B9BF-7E79-719C-B8B4-DB33CE829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C27F4-265F-45DB-8D28-48BB7148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363F4-571B-C96F-6F0D-2C036AD01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983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56DBB-8366-8C54-97D2-32B720B48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CBF01-38CC-7764-6680-DC9BD7A29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10680-4628-1999-9D3D-F8A1A5E8A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226FB-0B60-789F-2749-7FA08910A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8522E8-A177-532B-6F56-4FEE5A31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C74878-C747-78CD-ED17-0AB4055E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6664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50E6F-3978-48E0-7FAD-D2388862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33E89-21B0-9F5A-9296-DDAE0E5A4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B0757-CF75-0B3A-F35D-1250E9E3D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765F7D-0DF3-6434-8593-53841C396A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4CCBA5-3B30-9683-F4B9-58A96CAD77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4D10FB-2F72-093E-3D68-71642A8D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CF302C-5C96-5C55-A439-5681C1E4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2DE3A-B5A0-6F0F-48EE-871BBB22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1584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3FE3-B5AC-710D-E430-2879B51F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E8F98-8ECB-F73B-7DAE-FF1DE853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2DE00-AB62-C265-1FBF-5748E854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FB8AB-DE0A-E493-1769-8751EBF26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210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76A246-1D5C-2418-0AF7-F2BA5573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7F2C24-E6B6-8845-BAC6-BBA2C1F69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F342A-54D3-6E2D-9CE6-F9112C9D9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81733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8E091-68F6-FD57-207A-3E5A22635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D394B-7AA4-F4CB-32C6-A9829C98B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191641-FB3A-AF08-DAEE-1B35F12A2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D7BAD-9E95-CEE6-170F-3910F3B9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DF60F-519B-295F-3405-7AB203F43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E565D-417A-A3AC-6959-E4834C0E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9697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ABF3-8629-27D5-9DB1-FE3455FA6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E1787-39DE-19A2-58D0-66F5B4B7E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92A39-0E8B-983F-1375-04B81497EA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CB0C9-B6DD-805F-5B38-79283B0A0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EED16-5B27-772D-9C1D-8202F4DA2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03D4A-F8A8-9BAD-CFDC-54507981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1827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222C-ECBC-B927-AB56-2E466EBB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CC82F-0484-CE25-AAC0-9BE444336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4F621-E5E3-C9F8-64CE-685C4EBF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B62CE-6133-80A5-FFDF-A60956B0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AC61E-0C8D-21BD-D3D2-BED039A05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0384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3EB21-1D25-8CDC-BAFE-DF72CDFCB8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4CE1B-03B9-F279-65E4-1F14F6ABD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70A6A-D57A-D8EB-7446-33FCC685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21F93-1206-5EE0-4472-6112FBB9D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95A1F-01FB-AB92-D0E0-BFB4EE78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9316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A94B9-9E00-4DD6-BCD4-604645044CAD}"/>
              </a:ext>
            </a:extLst>
          </p:cNvPr>
          <p:cNvSpPr/>
          <p:nvPr userDrawn="1"/>
        </p:nvSpPr>
        <p:spPr>
          <a:xfrm>
            <a:off x="5017194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9AA0F-90FD-444F-B618-EE6F4C1F122A}"/>
              </a:ext>
            </a:extLst>
          </p:cNvPr>
          <p:cNvSpPr/>
          <p:nvPr userDrawn="1"/>
        </p:nvSpPr>
        <p:spPr>
          <a:xfrm>
            <a:off x="430045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5D740-BF58-4DAE-A85B-5EF9B6EE3615}"/>
              </a:ext>
            </a:extLst>
          </p:cNvPr>
          <p:cNvSpPr/>
          <p:nvPr userDrawn="1"/>
        </p:nvSpPr>
        <p:spPr>
          <a:xfrm>
            <a:off x="5375565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3B2E1-FF09-40A7-993A-BFF59632C25C}"/>
              </a:ext>
            </a:extLst>
          </p:cNvPr>
          <p:cNvSpPr/>
          <p:nvPr userDrawn="1"/>
        </p:nvSpPr>
        <p:spPr>
          <a:xfrm>
            <a:off x="358371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981C2-BC8B-44CC-9A8B-A5B381264380}"/>
              </a:ext>
            </a:extLst>
          </p:cNvPr>
          <p:cNvSpPr/>
          <p:nvPr userDrawn="1"/>
        </p:nvSpPr>
        <p:spPr>
          <a:xfrm>
            <a:off x="286696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AAD0A-E8F9-47F8-874E-433E4C9A92AC}"/>
              </a:ext>
            </a:extLst>
          </p:cNvPr>
          <p:cNvSpPr/>
          <p:nvPr userDrawn="1"/>
        </p:nvSpPr>
        <p:spPr>
          <a:xfrm>
            <a:off x="215022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71ABB2-3607-4850-A2E7-141BF30EA1E4}"/>
              </a:ext>
            </a:extLst>
          </p:cNvPr>
          <p:cNvSpPr/>
          <p:nvPr userDrawn="1"/>
        </p:nvSpPr>
        <p:spPr>
          <a:xfrm>
            <a:off x="322533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BB6AA-DB66-48A4-BBD2-9B36C02E5371}"/>
              </a:ext>
            </a:extLst>
          </p:cNvPr>
          <p:cNvSpPr/>
          <p:nvPr userDrawn="1"/>
        </p:nvSpPr>
        <p:spPr>
          <a:xfrm>
            <a:off x="1791855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AC868-5C63-419B-8791-593862E707C6}"/>
              </a:ext>
            </a:extLst>
          </p:cNvPr>
          <p:cNvSpPr/>
          <p:nvPr userDrawn="1"/>
        </p:nvSpPr>
        <p:spPr>
          <a:xfrm>
            <a:off x="1433484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6AF71-D03B-4190-8590-1688288FB9F2}"/>
              </a:ext>
            </a:extLst>
          </p:cNvPr>
          <p:cNvSpPr/>
          <p:nvPr userDrawn="1"/>
        </p:nvSpPr>
        <p:spPr>
          <a:xfrm>
            <a:off x="6092307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6CEDE-A238-4C3A-B315-B3D3081EC7CC}"/>
              </a:ext>
            </a:extLst>
          </p:cNvPr>
          <p:cNvSpPr/>
          <p:nvPr userDrawn="1"/>
        </p:nvSpPr>
        <p:spPr>
          <a:xfrm>
            <a:off x="358371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CE100-6140-4208-8CE9-DFE45B35007E}"/>
              </a:ext>
            </a:extLst>
          </p:cNvPr>
          <p:cNvSpPr/>
          <p:nvPr userDrawn="1"/>
        </p:nvSpPr>
        <p:spPr>
          <a:xfrm>
            <a:off x="4658823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5F84B-6DC9-4492-A492-95E4ABEF1B78}"/>
              </a:ext>
            </a:extLst>
          </p:cNvPr>
          <p:cNvSpPr/>
          <p:nvPr userDrawn="1"/>
        </p:nvSpPr>
        <p:spPr>
          <a:xfrm>
            <a:off x="1075113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788D4C-E960-45E8-ABC4-72FC2128647B}"/>
              </a:ext>
            </a:extLst>
          </p:cNvPr>
          <p:cNvSpPr/>
          <p:nvPr userDrawn="1"/>
        </p:nvSpPr>
        <p:spPr>
          <a:xfrm>
            <a:off x="250859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D71AB-A26E-43A9-B413-A59CFBCDD9B1}"/>
              </a:ext>
            </a:extLst>
          </p:cNvPr>
          <p:cNvSpPr/>
          <p:nvPr userDrawn="1"/>
        </p:nvSpPr>
        <p:spPr>
          <a:xfrm>
            <a:off x="716742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E9C91-A1C1-432A-9523-A511B304162F}"/>
              </a:ext>
            </a:extLst>
          </p:cNvPr>
          <p:cNvSpPr/>
          <p:nvPr userDrawn="1"/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3C8E1-8F58-4916-9097-718454DAC9FC}"/>
              </a:ext>
            </a:extLst>
          </p:cNvPr>
          <p:cNvSpPr/>
          <p:nvPr userDrawn="1"/>
        </p:nvSpPr>
        <p:spPr>
          <a:xfrm>
            <a:off x="5733936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465436-7CD8-4713-84B2-BE392283D713}"/>
              </a:ext>
            </a:extLst>
          </p:cNvPr>
          <p:cNvSpPr/>
          <p:nvPr userDrawn="1"/>
        </p:nvSpPr>
        <p:spPr>
          <a:xfrm>
            <a:off x="3942081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FDB3-CC2F-4666-9557-90812A8E5147}"/>
              </a:ext>
            </a:extLst>
          </p:cNvPr>
          <p:cNvSpPr/>
          <p:nvPr userDrawn="1"/>
        </p:nvSpPr>
        <p:spPr>
          <a:xfrm>
            <a:off x="1146787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D356C3-53D1-4AF1-B3FD-AEEFF75FDB5C}"/>
              </a:ext>
            </a:extLst>
          </p:cNvPr>
          <p:cNvSpPr/>
          <p:nvPr userDrawn="1"/>
        </p:nvSpPr>
        <p:spPr>
          <a:xfrm>
            <a:off x="1075113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89E7C-AF7A-4E82-B01B-1A945C7BBF79}"/>
              </a:ext>
            </a:extLst>
          </p:cNvPr>
          <p:cNvSpPr/>
          <p:nvPr userDrawn="1"/>
        </p:nvSpPr>
        <p:spPr>
          <a:xfrm>
            <a:off x="1182624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605B19F-DE4A-4705-A964-0579015AED0E}"/>
              </a:ext>
            </a:extLst>
          </p:cNvPr>
          <p:cNvSpPr/>
          <p:nvPr userDrawn="1"/>
        </p:nvSpPr>
        <p:spPr>
          <a:xfrm>
            <a:off x="10034388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299157-3482-4535-BECD-566EFFF308AD}"/>
              </a:ext>
            </a:extLst>
          </p:cNvPr>
          <p:cNvSpPr/>
          <p:nvPr userDrawn="1"/>
        </p:nvSpPr>
        <p:spPr>
          <a:xfrm>
            <a:off x="931764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8CCBF5-CCDC-43C9-B57D-B9DAE23B58BE}"/>
              </a:ext>
            </a:extLst>
          </p:cNvPr>
          <p:cNvSpPr/>
          <p:nvPr userDrawn="1"/>
        </p:nvSpPr>
        <p:spPr>
          <a:xfrm>
            <a:off x="8600904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12D896-790A-420A-BBFB-AFDB7BD9B603}"/>
              </a:ext>
            </a:extLst>
          </p:cNvPr>
          <p:cNvSpPr/>
          <p:nvPr userDrawn="1"/>
        </p:nvSpPr>
        <p:spPr>
          <a:xfrm>
            <a:off x="967601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941E70-EE67-4F80-B753-2F6426D0A9DA}"/>
              </a:ext>
            </a:extLst>
          </p:cNvPr>
          <p:cNvSpPr/>
          <p:nvPr userDrawn="1"/>
        </p:nvSpPr>
        <p:spPr>
          <a:xfrm>
            <a:off x="8242533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51E552-2222-4200-8E39-4DF2BEB677FD}"/>
              </a:ext>
            </a:extLst>
          </p:cNvPr>
          <p:cNvSpPr/>
          <p:nvPr userDrawn="1"/>
        </p:nvSpPr>
        <p:spPr>
          <a:xfrm>
            <a:off x="7884162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3002CA-9883-43A9-B000-00F9F7A14D27}"/>
              </a:ext>
            </a:extLst>
          </p:cNvPr>
          <p:cNvSpPr/>
          <p:nvPr userDrawn="1"/>
        </p:nvSpPr>
        <p:spPr>
          <a:xfrm>
            <a:off x="6809049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1A1E0B-5D8C-42BB-8493-4A6E267A7C73}"/>
              </a:ext>
            </a:extLst>
          </p:cNvPr>
          <p:cNvSpPr/>
          <p:nvPr userDrawn="1"/>
        </p:nvSpPr>
        <p:spPr>
          <a:xfrm>
            <a:off x="11109501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86EA3-C77E-4F5B-B2D8-06ACD07DECA4}"/>
              </a:ext>
            </a:extLst>
          </p:cNvPr>
          <p:cNvSpPr/>
          <p:nvPr userDrawn="1"/>
        </p:nvSpPr>
        <p:spPr>
          <a:xfrm>
            <a:off x="7525791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0E5EA-DA68-48FA-984B-26F2185EF431}"/>
              </a:ext>
            </a:extLst>
          </p:cNvPr>
          <p:cNvSpPr/>
          <p:nvPr userDrawn="1"/>
        </p:nvSpPr>
        <p:spPr>
          <a:xfrm>
            <a:off x="8959275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E5F851-80EC-44A1-B97A-D40F00A63A11}"/>
              </a:ext>
            </a:extLst>
          </p:cNvPr>
          <p:cNvSpPr/>
          <p:nvPr userDrawn="1"/>
        </p:nvSpPr>
        <p:spPr>
          <a:xfrm>
            <a:off x="716742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D6FCB-D2DE-4100-B034-4F158AA21763}"/>
              </a:ext>
            </a:extLst>
          </p:cNvPr>
          <p:cNvSpPr/>
          <p:nvPr userDrawn="1"/>
        </p:nvSpPr>
        <p:spPr>
          <a:xfrm>
            <a:off x="645067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3C2CDE-BD78-4521-A433-7332BF3D57FA}"/>
              </a:ext>
            </a:extLst>
          </p:cNvPr>
          <p:cNvSpPr/>
          <p:nvPr userDrawn="1"/>
        </p:nvSpPr>
        <p:spPr>
          <a:xfrm>
            <a:off x="1039275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06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9AEF6-E697-625E-6EE7-523C1F117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F2552-BB2A-C277-B6F9-D94A30280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8DF76-1832-94A3-32AF-90542FDBD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BD574E-0D7A-4B70-B613-8E7AF3C7C8F8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BE071-E652-CC35-151E-8E1B2CF5B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A3173-1404-05C1-6B88-4FA9E4306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2E24B-027D-496F-AE87-19BFC4F6F45A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39523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DE776-2803-6BE7-4E58-6F155C636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3EBC9-1DD0-F6E1-6912-06917AF4A0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10731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751717-A77D-2275-A772-529C920A9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465E79-312B-4851-A9D0-AC260BC71D21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6207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Indicies: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𝑔𝑖𝑣𝑒𝑛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𝑖𝑛𝑡𝑒𝑟𝑣𝑎𝑙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15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Decision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𝑤𝑖𝑡h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𝑏𝑒𝑡𝑤𝑒𝑒𝑛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𝑏𝑎𝑡𝑐h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𝑖𝑛𝑑𝑖𝑐𝑎𝑡𝑜𝑟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𝑏𝑎𝑡𝑐h𝑒𝑑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𝑡𝑜𝑔𝑒𝑡h𝑒𝑟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𝑑𝑢𝑟𝑖𝑛𝑔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𝑎𝑛𝑜𝑡h𝑒𝑟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order </a:t>
                </a:r>
                <a:r>
                  <a:rPr lang="en-US" b="0" i="1" dirty="0" err="1">
                    <a:latin typeface="Cambria Math" panose="02040503050406030204" pitchFamily="18" charset="0"/>
                  </a:rPr>
                  <a:t>i</a:t>
                </a:r>
                <a:r>
                  <a:rPr lang="en-US" b="0" i="1" dirty="0">
                    <a:latin typeface="Cambria Math" panose="02040503050406030204" pitchFamily="18" charset="0"/>
                  </a:rPr>
                  <a:t> is shipped at time t  </a:t>
                </a:r>
                <a:r>
                  <a:rPr lang="en-US" b="0" dirty="0">
                    <a:latin typeface="Cambria Math" panose="02040503050406030204" pitchFamily="18" charset="0"/>
                  </a:rPr>
                  <a:t>(binary)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𝑤h𝑒𝑛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𝑠h𝑖𝑝𝑝𝑒𝑑</m:t>
                    </m:r>
                  </m:oMath>
                </a14:m>
                <a:r>
                  <a:rPr lang="en-US" dirty="0"/>
                  <a:t>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𝑎𝑣𝑎𝑖𝑙𝑎𝑏𝑙𝑒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r>
                  <a:rPr lang="en-US" dirty="0"/>
                  <a:t>Decision Variables (OTIF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𝑒𝑎𝑟𝑙𝑦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 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F465E79-312B-4851-A9D0-AC260BC71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6207725"/>
              </a:xfrm>
              <a:prstGeom prst="rect">
                <a:avLst/>
              </a:prstGeom>
              <a:blipFill>
                <a:blip r:embed="rId2"/>
                <a:stretch>
                  <a:fillRect l="-485" t="-491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893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38535-0F2C-B820-DFB1-AE36788C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058A8F-6805-188E-CB13-06C41999DDBF}"/>
                  </a:ext>
                </a:extLst>
              </p:cNvPr>
              <p:cNvSpPr txBox="1"/>
              <p:nvPr/>
            </p:nvSpPr>
            <p:spPr>
              <a:xfrm>
                <a:off x="174659" y="382134"/>
                <a:ext cx="11322121" cy="7106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Decision Variables (Workforce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𝑚𝑎𝑥𝑖𝑚𝑎𝑙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𝑑𝑒𝑣𝑖𝑎𝑡𝑖𝑜𝑛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𝑎𝑏𝑜𝑣𝑒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𝑎𝑏𝑜𝑣𝑒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𝑡𝑎𝑟𝑔𝑒𝑟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𝑏𝑒𝑙𝑜𝑤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𝑏𝑒𝑙𝑜𝑤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𝑡𝑎𝑟𝑔𝑒𝑟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𝑐h𝑎𝑛𝑔𝑒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𝑎𝑏𝑠𝑜𝑙𝑢𝑡𝑒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𝑐h𝑎𝑛𝑔𝑒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𝑖𝑛𝑐𝑟𝑒𝑎𝑠𝑒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𝑤𝑜𝑟𝑘𝑓𝑜𝑟𝑐𝑒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𝑑𝑒𝑐𝑟𝑒𝑎𝑠𝑒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(non-negative integer)</a:t>
                </a:r>
              </a:p>
              <a:p>
                <a:r>
                  <a:rPr lang="en-US" dirty="0"/>
                  <a:t>Decision Variables (WIP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𝑐𝑜𝑚𝑝𝑙𝑒𝑡𝑖𝑜𝑛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𝑎𝑐𝑡𝑢𝑎𝑙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𝑓𝑟𝑜𝑚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𝑐𝑜𝑚𝑝𝑙𝑒𝑡𝑖𝑜𝑛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𝑖𝑛𝑑𝑖𝑐𝑎𝑡𝑜𝑟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𝑤𝑒𝑖𝑔h𝑡𝑒𝑑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𝑊𝐼𝑃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(non-negative integer)</a:t>
                </a:r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8058A8F-6805-188E-CB13-06C41999D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9" y="382134"/>
                <a:ext cx="11322121" cy="7106112"/>
              </a:xfrm>
              <a:prstGeom prst="rect">
                <a:avLst/>
              </a:prstGeom>
              <a:blipFill>
                <a:blip r:embed="rId2"/>
                <a:stretch>
                  <a:fillRect l="-485" t="-51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361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19C637-DBCD-970B-38BA-AF9A4BAD7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A63B73-7ABF-F982-3283-7F255DB0BDB9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3161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parameters: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 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𝑎𝑣𝑎𝑖𝑙𝑎𝑏𝑙𝑒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𝑖𝑛𝑖𝑡𝑖𝑎𝑙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𝑟𝑒𝑠𝑒𝑟𝑣𝑒𝑑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𝑐𝑎𝑝𝑎𝑐𝑖𝑡𝑦</m:t>
                    </m:r>
                  </m:oMath>
                </a14:m>
                <a:r>
                  <a:rPr lang="en-US" dirty="0"/>
                  <a:t> (positive real less than 1)</a:t>
                </a:r>
              </a:p>
              <a:p>
                <a:r>
                  <a:rPr lang="en-US" dirty="0"/>
                  <a:t>Input parameters (OTIF):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integer, 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Input parameters (Workforce):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𝑖𝑑𝑒𝑎𝑙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𝑠𝑡𝑒𝑎𝑑𝑦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𝑙𝑒𝑣𝑒𝑙</m:t>
                    </m:r>
                  </m:oMath>
                </a14:m>
                <a:r>
                  <a:rPr lang="en-US" dirty="0"/>
                  <a:t> (positive integer)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BA63B73-7ABF-F982-3283-7F255DB0BD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3161891"/>
              </a:xfrm>
              <a:prstGeom prst="rect">
                <a:avLst/>
              </a:prstGeom>
              <a:blipFill>
                <a:blip r:embed="rId2"/>
                <a:stretch>
                  <a:fillRect l="-485" t="-963" b="-1541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1729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C13421-0F90-7969-F9C5-7159BC3B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A5680ED-2AF1-4B2F-A48F-407C321F36A1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C3734A-9FBF-46EC-8FD4-334C237971E7}"/>
                  </a:ext>
                </a:extLst>
              </p:cNvPr>
              <p:cNvSpPr txBox="1"/>
              <p:nvPr/>
            </p:nvSpPr>
            <p:spPr>
              <a:xfrm>
                <a:off x="184933" y="817438"/>
                <a:ext cx="8558373" cy="5842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 assignment: Each order assigned to only one line, one time, and one worker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capacity: No overlap of order on the same line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∗(1−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))</m:t>
                                    </m:r>
                                  </m:e>
                                </m:nary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worker is working on a given packing order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Workers can only work during their availability windows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Movement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−1 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  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line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≤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𝜏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&lt;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e>
                                        </m:d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nary>
                                          <m:naryPr>
                                            <m:chr m:val="∑"/>
                                            <m:supHide m:val="on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  <m:sup/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∗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𝑗</m:t>
                                                </m:r>
                                              </m:e>
                                            </m:d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∗(1−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))</m:t>
                                            </m:r>
                                          </m:e>
                                        </m:nary>
                                      </m:sub>
                                      <m:sup/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 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nary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6C3734A-9FBF-46EC-8FD4-334C23797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3" y="817438"/>
                <a:ext cx="8558373" cy="5842433"/>
              </a:xfrm>
              <a:prstGeom prst="rect">
                <a:avLst/>
              </a:prstGeom>
              <a:blipFill>
                <a:blip r:embed="rId2"/>
                <a:stretch>
                  <a:fillRect l="-427" t="-52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6768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9F50DA-56C6-347C-EC57-0BF872192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B1B8E65F-0C5A-B062-5F38-E2D1F417DC9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FC7FE-F316-4373-9ED7-6F58E2392BEE}"/>
                  </a:ext>
                </a:extLst>
              </p:cNvPr>
              <p:cNvSpPr txBox="1"/>
              <p:nvPr/>
            </p:nvSpPr>
            <p:spPr>
              <a:xfrm>
                <a:off x="195208" y="971550"/>
                <a:ext cx="8989888" cy="3526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worker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in use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Each order ships exactly once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  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Shipping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FC7FE-F316-4373-9ED7-6F58E2392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08" y="971550"/>
                <a:ext cx="8989888" cy="3526415"/>
              </a:xfrm>
              <a:prstGeom prst="rect">
                <a:avLst/>
              </a:prstGeom>
              <a:blipFill>
                <a:blip r:embed="rId2"/>
                <a:stretch>
                  <a:fillRect l="-542" t="-483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590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A5877-DEA7-5CC9-4DFB-0355FEBEE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B996B68-61F0-8A74-9E73-EDA176A50BD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(OTIF)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A03616-4B35-E540-2B6B-A6785F45B7F2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60153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Start time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start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∀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Completion time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time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∀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Lateness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Earliness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early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early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≥0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Identify late orders (forces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𝑙𝑎𝑡𝑒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)=1</m:t>
                    </m:r>
                  </m:oMath>
                </a14:m>
                <a:r>
                  <a:rPr lang="en-US" dirty="0"/>
                  <a:t> if order is late)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𝑙𝑎𝑡𝑒𝑛𝑒𝑠𝑠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𝑙𝑎𝑡𝑒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A03616-4B35-E540-2B6B-A6785F45B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6015365"/>
              </a:xfrm>
              <a:prstGeom prst="rect">
                <a:avLst/>
              </a:prstGeom>
              <a:blipFill>
                <a:blip r:embed="rId2"/>
                <a:stretch>
                  <a:fillRect l="-407" t="-507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075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9889DB-6B36-8AA8-6282-7E80F14C4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63B473FC-58E4-9018-A887-FA3E820295B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(Shipping)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CF3445-FE60-A6C7-B485-DBB5A00ACA97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4027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Cannot ship before order complete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𝑐𝑜𝑚𝑝𝑙𝑒𝑡𝑒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Has inventory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h𝑎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𝑖𝑛𝑣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Can only ship when inventory is sufficient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CCF3445-FE60-A6C7-B485-DBB5A00AC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4027385"/>
              </a:xfrm>
              <a:prstGeom prst="rect">
                <a:avLst/>
              </a:prstGeom>
              <a:blipFill>
                <a:blip r:embed="rId2"/>
                <a:stretch>
                  <a:fillRect l="-407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1875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0957E-51C0-7FDB-F819-4FCBDD9B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39622EF5-3E1C-2BB6-21B9-32D8AC538AF6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(WIP)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1A0692-C3B3-EE33-CBB4-3EA2405DD035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579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Flow time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𝑓𝑙𝑜𝑤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𝑠𝑡𝑎𝑟𝑡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packing orders produced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Inventory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indicator (order </a:t>
                </a:r>
                <a:r>
                  <a:rPr lang="en-US" dirty="0" err="1"/>
                  <a:t>i</a:t>
                </a:r>
                <a:r>
                  <a:rPr lang="en-US" dirty="0"/>
                  <a:t> is being worked on at time t or in inventory)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wip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indicator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)≤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𝑖𝑛𝑣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at time 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wip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𝑖𝑛𝑑𝑖𝑐𝑎𝑡𝑜𝑟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E1A0692-C3B3-EE33-CBB4-3EA2405DD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5799216"/>
              </a:xfrm>
              <a:prstGeom prst="rect">
                <a:avLst/>
              </a:prstGeom>
              <a:blipFill>
                <a:blip r:embed="rId2"/>
                <a:stretch>
                  <a:fillRect l="-407" t="-525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900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A158F7-2B83-4564-7320-57AC67FDF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7B01E680-F8E4-D313-E8BC-07113955E59E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B9FF36-F514-694C-87F8-FD6B74978F09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7617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Active workers per time slot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Maximum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Minium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Absolute deviation (the solver will choose only one deviation to be positive at a given time)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𝑡𝑎𝑟𝑔𝑒𝑡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𝑎𝑏𝑜𝑣𝑒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𝑏𝑒𝑙𝑜𝑤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𝑎𝑏𝑜𝑣𝑒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𝑑𝑒𝑣𝑖𝑎𝑡𝑖𝑜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𝑏𝑒𝑙𝑜𝑤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changes between periods (the solver will choose only one deviation to be positive at a given time)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𝑤𝑜𝑘𝑒𝑟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𝑐h𝑎𝑛𝑔𝑒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𝑑𝑒𝑐𝑟𝑒𝑎𝑠𝑒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range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B9FF36-F514-694C-87F8-FD6B74978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7617791"/>
              </a:xfrm>
              <a:prstGeom prst="rect">
                <a:avLst/>
              </a:prstGeom>
              <a:blipFill>
                <a:blip r:embed="rId2"/>
                <a:stretch>
                  <a:fillRect l="-475" t="-400" r="-204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839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FC076-D2F4-6595-98A5-546EF880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85E31FCF-C659-6CE0-EBF0-162B9B8B429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Objective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3D2E45-AA30-451C-8152-F32152C84802}"/>
                  </a:ext>
                </a:extLst>
              </p:cNvPr>
              <p:cNvSpPr txBox="1"/>
              <p:nvPr/>
            </p:nvSpPr>
            <p:spPr>
              <a:xfrm>
                <a:off x="236306" y="868808"/>
                <a:ext cx="9277564" cy="6276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Minimization objective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𝑜𝑡𝑖𝑓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𝑤𝑜𝑟𝑘𝑓𝑜𝑟𝑐𝑒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𝑢𝑡𝑖𝑙𝑖𝑧𝑒𝑑</m:t>
                              </m:r>
                            </m:sub>
                          </m:sSub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𝑚𝑜𝑣𝑒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OTIF term (heavy penalty for late order but also penalizes according to lateness)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otif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𝑝𝑟𝑖𝑜𝑟𝑖𝑡𝑦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∗( 7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+3 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𝑙𝑎𝑡𝑒𝑛𝑒𝑠𝑠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term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+6∗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𝑡𝑖𝑚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𝑓𝑙𝑜𝑤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term (reduces worker variance, deviations from target workforce and changes from one time instant to another)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 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𝑑𝑒𝑣𝑖𝑎𝑡𝑖𝑜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+2∗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𝑤𝑜𝑟𝑘𝑓𝑜𝑟𝑐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𝑐h𝑎𝑛𝑔𝑒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lines fully utilized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𝑡𝑜𝑡𝑎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𝑢𝑡𝑖𝑙𝑖𝑧𝑒𝑑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Total worker movements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𝑤𝑜𝑟𝑘𝑒𝑟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𝑚𝑜𝑣𝑒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3D2E45-AA30-451C-8152-F32152C84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6" y="868808"/>
                <a:ext cx="9277564" cy="6276911"/>
              </a:xfrm>
              <a:prstGeom prst="rect">
                <a:avLst/>
              </a:prstGeom>
              <a:blipFill>
                <a:blip r:embed="rId2"/>
                <a:stretch>
                  <a:fillRect l="-591" t="-48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574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1309</Words>
  <Application>Microsoft Office PowerPoint</Application>
  <PresentationFormat>Widescreen</PresentationFormat>
  <Paragraphs>114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Lassen</dc:creator>
  <cp:lastModifiedBy>Benny Lassen</cp:lastModifiedBy>
  <cp:revision>1</cp:revision>
  <dcterms:created xsi:type="dcterms:W3CDTF">2025-11-11T07:56:09Z</dcterms:created>
  <dcterms:modified xsi:type="dcterms:W3CDTF">2025-11-11T07:57:00Z</dcterms:modified>
</cp:coreProperties>
</file>