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2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401" r:id="rId11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D272-C2BA-600A-BADA-8C111DDB1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57BED-2AEC-6B20-6539-71B53FD39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31245-AC22-B40F-F27D-530BBFFA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260E2-D861-12A4-DFFF-B5ED8D40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FE59-73EA-6C50-2FB0-F0647429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254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9150-5080-0EF9-93E8-81249181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550C-A8AA-4198-9B01-0948B3A6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2F23D-636D-6EB5-2FFD-88C9D25D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66EF-E9F2-F753-D7C2-3CA75E7E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48024-7224-D837-ED16-3BB31210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3967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2AE2-08D9-1A8B-CEBA-D81F4B63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9F4-F40C-F933-C6F2-64306A09E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E934-86F3-5B0A-FB91-C8AD9397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B4C1-A04A-3ECC-1234-F87698E6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E2FA5-FCAF-2018-FBC3-658EA04C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7549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874E-57C1-C286-D3D8-A4185C8E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76C34-9991-3F5D-ECEA-45153006F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16AED-DAB3-5E9E-FF73-179553C85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CEF68-4EEA-7932-E981-CC8CDFF4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EA89E-0D33-411E-9220-E8212C48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6C86F-69B9-4D8E-ACBB-216BD803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2132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20E0-7E90-05C5-6BBC-2018080A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CD9CE-FBA2-C653-4ED4-F03C152C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5C9B5-06E8-93D4-9A9A-B79B8804C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95269-40CB-46AB-EC32-1791D525B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041363-6512-87BE-2506-8AA735235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F5581-1423-6D27-6029-2AB7E5B7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F8B1C-BF42-1310-81CC-527BAA5B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22521-1D3A-6F53-E42B-8752079C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164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AA71-2E28-27B6-DDBD-E22CF226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2941C-BA66-02D0-16FB-038D7B45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2BA80-B620-75A8-A499-8FF497F6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53474-0952-9E3E-33AD-F3191FD5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962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4A3F3-FE98-B1E2-925C-9FFEDBDF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EE868-68DB-24CC-0FD2-5D99EEEC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F037D-CD03-E4D1-8E03-56EC3182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5021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C7FA-68BA-339B-3EAD-19AFC634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DC6BC-5A21-5740-ED43-9A435939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C9D92-F965-EE99-20CA-1046F7984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2B29E-AFBE-13E2-8FF9-7436DAF6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20B0D-E579-55C4-9A33-43D53943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89FBC-3D39-CE26-0846-64E2DFED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5169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1DC-1DE8-60B4-0BBA-F3EF12DD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8CEF2-09EC-7D1A-008F-83C546108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9400A-849F-2638-E98A-23C7CC3C9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DF2CA-330E-7F43-9691-28D27E80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BDF9E-7185-94B0-2422-A1B714C2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7D80C-AC6B-B635-4062-A3D2C58B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117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2134-CFDF-73D5-4446-5C13EDA6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4462C-5505-DD2C-774B-5643E0BDE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BEB02-14D3-E028-93C1-1F20E71D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AA528-0AC9-E7E0-9998-C3C2788E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ACC3-0D0B-717B-F6A4-8B6353E8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5333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ADB10-9A06-BCC1-F088-D8168F64E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C0A45-6DEE-D891-74A4-35A930F38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0214-3711-8332-CF48-989476FE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B661-D0B9-39E5-1816-2CF5B5AA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C4E4-3FF3-FE64-3A1D-E46A714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3221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A94B9-9E00-4DD6-BCD4-604645044CAD}"/>
              </a:ext>
            </a:extLst>
          </p:cNvPr>
          <p:cNvSpPr/>
          <p:nvPr userDrawn="1"/>
        </p:nvSpPr>
        <p:spPr>
          <a:xfrm>
            <a:off x="5017194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9AA0F-90FD-444F-B618-EE6F4C1F122A}"/>
              </a:ext>
            </a:extLst>
          </p:cNvPr>
          <p:cNvSpPr/>
          <p:nvPr userDrawn="1"/>
        </p:nvSpPr>
        <p:spPr>
          <a:xfrm>
            <a:off x="430045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5D740-BF58-4DAE-A85B-5EF9B6EE3615}"/>
              </a:ext>
            </a:extLst>
          </p:cNvPr>
          <p:cNvSpPr/>
          <p:nvPr userDrawn="1"/>
        </p:nvSpPr>
        <p:spPr>
          <a:xfrm>
            <a:off x="5375565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3B2E1-FF09-40A7-993A-BFF59632C25C}"/>
              </a:ext>
            </a:extLst>
          </p:cNvPr>
          <p:cNvSpPr/>
          <p:nvPr userDrawn="1"/>
        </p:nvSpPr>
        <p:spPr>
          <a:xfrm>
            <a:off x="358371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981C2-BC8B-44CC-9A8B-A5B381264380}"/>
              </a:ext>
            </a:extLst>
          </p:cNvPr>
          <p:cNvSpPr/>
          <p:nvPr userDrawn="1"/>
        </p:nvSpPr>
        <p:spPr>
          <a:xfrm>
            <a:off x="286696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AAD0A-E8F9-47F8-874E-433E4C9A92AC}"/>
              </a:ext>
            </a:extLst>
          </p:cNvPr>
          <p:cNvSpPr/>
          <p:nvPr userDrawn="1"/>
        </p:nvSpPr>
        <p:spPr>
          <a:xfrm>
            <a:off x="215022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71ABB2-3607-4850-A2E7-141BF30EA1E4}"/>
              </a:ext>
            </a:extLst>
          </p:cNvPr>
          <p:cNvSpPr/>
          <p:nvPr userDrawn="1"/>
        </p:nvSpPr>
        <p:spPr>
          <a:xfrm>
            <a:off x="322533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BB6AA-DB66-48A4-BBD2-9B36C02E5371}"/>
              </a:ext>
            </a:extLst>
          </p:cNvPr>
          <p:cNvSpPr/>
          <p:nvPr userDrawn="1"/>
        </p:nvSpPr>
        <p:spPr>
          <a:xfrm>
            <a:off x="1791855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AC868-5C63-419B-8791-593862E707C6}"/>
              </a:ext>
            </a:extLst>
          </p:cNvPr>
          <p:cNvSpPr/>
          <p:nvPr userDrawn="1"/>
        </p:nvSpPr>
        <p:spPr>
          <a:xfrm>
            <a:off x="1433484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6AF71-D03B-4190-8590-1688288FB9F2}"/>
              </a:ext>
            </a:extLst>
          </p:cNvPr>
          <p:cNvSpPr/>
          <p:nvPr userDrawn="1"/>
        </p:nvSpPr>
        <p:spPr>
          <a:xfrm>
            <a:off x="6092307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6CEDE-A238-4C3A-B315-B3D3081EC7CC}"/>
              </a:ext>
            </a:extLst>
          </p:cNvPr>
          <p:cNvSpPr/>
          <p:nvPr userDrawn="1"/>
        </p:nvSpPr>
        <p:spPr>
          <a:xfrm>
            <a:off x="358371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CE100-6140-4208-8CE9-DFE45B35007E}"/>
              </a:ext>
            </a:extLst>
          </p:cNvPr>
          <p:cNvSpPr/>
          <p:nvPr userDrawn="1"/>
        </p:nvSpPr>
        <p:spPr>
          <a:xfrm>
            <a:off x="4658823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5F84B-6DC9-4492-A492-95E4ABEF1B78}"/>
              </a:ext>
            </a:extLst>
          </p:cNvPr>
          <p:cNvSpPr/>
          <p:nvPr userDrawn="1"/>
        </p:nvSpPr>
        <p:spPr>
          <a:xfrm>
            <a:off x="1075113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788D4C-E960-45E8-ABC4-72FC2128647B}"/>
              </a:ext>
            </a:extLst>
          </p:cNvPr>
          <p:cNvSpPr/>
          <p:nvPr userDrawn="1"/>
        </p:nvSpPr>
        <p:spPr>
          <a:xfrm>
            <a:off x="250859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D71AB-A26E-43A9-B413-A59CFBCDD9B1}"/>
              </a:ext>
            </a:extLst>
          </p:cNvPr>
          <p:cNvSpPr/>
          <p:nvPr userDrawn="1"/>
        </p:nvSpPr>
        <p:spPr>
          <a:xfrm>
            <a:off x="716742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E9C91-A1C1-432A-9523-A511B304162F}"/>
              </a:ext>
            </a:extLst>
          </p:cNvPr>
          <p:cNvSpPr/>
          <p:nvPr userDrawn="1"/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3C8E1-8F58-4916-9097-718454DAC9FC}"/>
              </a:ext>
            </a:extLst>
          </p:cNvPr>
          <p:cNvSpPr/>
          <p:nvPr userDrawn="1"/>
        </p:nvSpPr>
        <p:spPr>
          <a:xfrm>
            <a:off x="5733936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465436-7CD8-4713-84B2-BE392283D713}"/>
              </a:ext>
            </a:extLst>
          </p:cNvPr>
          <p:cNvSpPr/>
          <p:nvPr userDrawn="1"/>
        </p:nvSpPr>
        <p:spPr>
          <a:xfrm>
            <a:off x="3942081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FDB3-CC2F-4666-9557-90812A8E5147}"/>
              </a:ext>
            </a:extLst>
          </p:cNvPr>
          <p:cNvSpPr/>
          <p:nvPr userDrawn="1"/>
        </p:nvSpPr>
        <p:spPr>
          <a:xfrm>
            <a:off x="1146787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D356C3-53D1-4AF1-B3FD-AEEFF75FDB5C}"/>
              </a:ext>
            </a:extLst>
          </p:cNvPr>
          <p:cNvSpPr/>
          <p:nvPr userDrawn="1"/>
        </p:nvSpPr>
        <p:spPr>
          <a:xfrm>
            <a:off x="1075113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89E7C-AF7A-4E82-B01B-1A945C7BBF79}"/>
              </a:ext>
            </a:extLst>
          </p:cNvPr>
          <p:cNvSpPr/>
          <p:nvPr userDrawn="1"/>
        </p:nvSpPr>
        <p:spPr>
          <a:xfrm>
            <a:off x="1182624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605B19F-DE4A-4705-A964-0579015AED0E}"/>
              </a:ext>
            </a:extLst>
          </p:cNvPr>
          <p:cNvSpPr/>
          <p:nvPr userDrawn="1"/>
        </p:nvSpPr>
        <p:spPr>
          <a:xfrm>
            <a:off x="10034388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299157-3482-4535-BECD-566EFFF308AD}"/>
              </a:ext>
            </a:extLst>
          </p:cNvPr>
          <p:cNvSpPr/>
          <p:nvPr userDrawn="1"/>
        </p:nvSpPr>
        <p:spPr>
          <a:xfrm>
            <a:off x="931764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8CCBF5-CCDC-43C9-B57D-B9DAE23B58BE}"/>
              </a:ext>
            </a:extLst>
          </p:cNvPr>
          <p:cNvSpPr/>
          <p:nvPr userDrawn="1"/>
        </p:nvSpPr>
        <p:spPr>
          <a:xfrm>
            <a:off x="8600904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12D896-790A-420A-BBFB-AFDB7BD9B603}"/>
              </a:ext>
            </a:extLst>
          </p:cNvPr>
          <p:cNvSpPr/>
          <p:nvPr userDrawn="1"/>
        </p:nvSpPr>
        <p:spPr>
          <a:xfrm>
            <a:off x="967601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941E70-EE67-4F80-B753-2F6426D0A9DA}"/>
              </a:ext>
            </a:extLst>
          </p:cNvPr>
          <p:cNvSpPr/>
          <p:nvPr userDrawn="1"/>
        </p:nvSpPr>
        <p:spPr>
          <a:xfrm>
            <a:off x="8242533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51E552-2222-4200-8E39-4DF2BEB677FD}"/>
              </a:ext>
            </a:extLst>
          </p:cNvPr>
          <p:cNvSpPr/>
          <p:nvPr userDrawn="1"/>
        </p:nvSpPr>
        <p:spPr>
          <a:xfrm>
            <a:off x="7884162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3002CA-9883-43A9-B000-00F9F7A14D27}"/>
              </a:ext>
            </a:extLst>
          </p:cNvPr>
          <p:cNvSpPr/>
          <p:nvPr userDrawn="1"/>
        </p:nvSpPr>
        <p:spPr>
          <a:xfrm>
            <a:off x="6809049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1A1E0B-5D8C-42BB-8493-4A6E267A7C73}"/>
              </a:ext>
            </a:extLst>
          </p:cNvPr>
          <p:cNvSpPr/>
          <p:nvPr userDrawn="1"/>
        </p:nvSpPr>
        <p:spPr>
          <a:xfrm>
            <a:off x="11109501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86EA3-C77E-4F5B-B2D8-06ACD07DECA4}"/>
              </a:ext>
            </a:extLst>
          </p:cNvPr>
          <p:cNvSpPr/>
          <p:nvPr userDrawn="1"/>
        </p:nvSpPr>
        <p:spPr>
          <a:xfrm>
            <a:off x="7525791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0E5EA-DA68-48FA-984B-26F2185EF431}"/>
              </a:ext>
            </a:extLst>
          </p:cNvPr>
          <p:cNvSpPr/>
          <p:nvPr userDrawn="1"/>
        </p:nvSpPr>
        <p:spPr>
          <a:xfrm>
            <a:off x="8959275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E5F851-80EC-44A1-B97A-D40F00A63A11}"/>
              </a:ext>
            </a:extLst>
          </p:cNvPr>
          <p:cNvSpPr/>
          <p:nvPr userDrawn="1"/>
        </p:nvSpPr>
        <p:spPr>
          <a:xfrm>
            <a:off x="716742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D6FCB-D2DE-4100-B034-4F158AA21763}"/>
              </a:ext>
            </a:extLst>
          </p:cNvPr>
          <p:cNvSpPr/>
          <p:nvPr userDrawn="1"/>
        </p:nvSpPr>
        <p:spPr>
          <a:xfrm>
            <a:off x="645067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3C2CDE-BD78-4521-A433-7332BF3D57FA}"/>
              </a:ext>
            </a:extLst>
          </p:cNvPr>
          <p:cNvSpPr/>
          <p:nvPr userDrawn="1"/>
        </p:nvSpPr>
        <p:spPr>
          <a:xfrm>
            <a:off x="1039275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66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039F2-F5D0-2234-3A09-9E78A711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F629-F722-7760-849E-5968FEFA7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5A366-A7BD-03C2-C1A7-DBADCB7E6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91D7-2B3F-2903-5D7C-B30636DAF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96882-9E64-682E-A82A-EDF623D77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806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D85FE-3484-FD3A-6FBD-9B5C351C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Indicies: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𝑔𝑖𝑣𝑒𝑛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𝑖𝑛𝑡𝑒𝑟𝑣𝑎𝑙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15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Decision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(relaxed too non-negative real)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2031325"/>
              </a:xfrm>
              <a:prstGeom prst="rect">
                <a:avLst/>
              </a:prstGeom>
              <a:blipFill>
                <a:blip r:embed="rId2"/>
                <a:stretch>
                  <a:fillRect l="-485" t="-1198" b="-389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99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955DE-95E0-C21D-C847-9EE0A554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/>
              <p:nvPr/>
            </p:nvSpPr>
            <p:spPr>
              <a:xfrm>
                <a:off x="174659" y="382134"/>
                <a:ext cx="1132212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Decision Variables (Workforce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(relaxed too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𝑚𝑎𝑥𝑖𝑚𝑎𝑙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(relaxed too real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(relaxed too real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r>
                  <a:rPr lang="en-US" dirty="0"/>
                  <a:t>Decision Variables (WIP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𝑠𝑡𝑜𝑐𝑘</m:t>
                    </m:r>
                  </m:oMath>
                </a14:m>
                <a:r>
                  <a:rPr lang="en-US" dirty="0"/>
                  <a:t> (relaxed too non-negative real)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order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</a:rPr>
                  <a:t> is shipped at time t  </a:t>
                </a:r>
                <a:r>
                  <a:rPr lang="en-US" dirty="0">
                    <a:latin typeface="Cambria Math" panose="02040503050406030204" pitchFamily="18" charset="0"/>
                  </a:rPr>
                  <a:t>(binary)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9" y="382134"/>
                <a:ext cx="11322121" cy="3970318"/>
              </a:xfrm>
              <a:prstGeom prst="rect">
                <a:avLst/>
              </a:prstGeom>
              <a:blipFill>
                <a:blip r:embed="rId2"/>
                <a:stretch>
                  <a:fillRect l="-485" t="-768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5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06E1D-15A5-92BA-EDC0-CC6BB03F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parameters: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 , dividable by base time interval)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𝑖𝑛𝑖𝑡𝑖𝑎𝑙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r>
                  <a:rPr lang="en-US" dirty="0"/>
                  <a:t> Input parameters (OTIF):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integer, 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2031325"/>
              </a:xfrm>
              <a:prstGeom prst="rect">
                <a:avLst/>
              </a:prstGeom>
              <a:blipFill>
                <a:blip r:embed="rId2"/>
                <a:stretch>
                  <a:fillRect l="-485" t="-1198" b="-389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93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16B86-BA30-2192-9F58-FCC5413B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C5C6173-2F66-44D3-FBD1-C8C60BD37D2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/>
              <p:nvPr/>
            </p:nvSpPr>
            <p:spPr>
              <a:xfrm>
                <a:off x="184933" y="817438"/>
                <a:ext cx="8558373" cy="3357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 assignment: Each order assigned to only one line, one time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capacity: No overlap of order on the same line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line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3" y="817438"/>
                <a:ext cx="8558373" cy="3357458"/>
              </a:xfrm>
              <a:prstGeom prst="rect">
                <a:avLst/>
              </a:prstGeom>
              <a:blipFill>
                <a:blip r:embed="rId2"/>
                <a:stretch>
                  <a:fillRect l="-427" t="-72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29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30F88-ACC0-B925-B26D-29A49D0C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332F2FC8-780B-7A5B-171A-CA37EA5C29B1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359123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28078-8248-75FE-CA26-A20350C9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13AF1529-787B-5F45-D871-C4595748BE0B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(OTIF)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D2F41-C1EC-CAEC-38A0-4003889CCF21}"/>
              </a:ext>
            </a:extLst>
          </p:cNvPr>
          <p:cNvSpPr txBox="1"/>
          <p:nvPr/>
        </p:nvSpPr>
        <p:spPr>
          <a:xfrm>
            <a:off x="184934" y="971550"/>
            <a:ext cx="89898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7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3C9B9-5D5D-2CA5-5125-BC9F5C5D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28E86123-E9C7-5066-7FDD-4E35F8156893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(Shipping)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3375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Each order ships exactly once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=1   ∀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Ship no earlier than due time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3375668"/>
              </a:xfrm>
              <a:prstGeom prst="rect">
                <a:avLst/>
              </a:prstGeom>
              <a:blipFill>
                <a:blip r:embed="rId2"/>
                <a:stretch>
                  <a:fillRect l="-407" t="-72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00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70061-7547-F327-C529-69EFBB08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6C9AFF8-5B72-2472-DDA3-52AA2E78C00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(WIP)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3011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packing orders produced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Inventory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3011850"/>
              </a:xfrm>
              <a:prstGeom prst="rect">
                <a:avLst/>
              </a:prstGeom>
              <a:blipFill>
                <a:blip r:embed="rId2"/>
                <a:stretch>
                  <a:fillRect l="-407" t="-81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30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F2AD6-C9F3-CE08-F277-F7E8E62F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E3BFCDD-F1B9-AEDE-B6CF-952ECEED66D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4407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Active workers per time slot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Maximum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Minium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range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4407489"/>
              </a:xfrm>
              <a:prstGeom prst="rect">
                <a:avLst/>
              </a:prstGeom>
              <a:blipFill>
                <a:blip r:embed="rId2"/>
                <a:stretch>
                  <a:fillRect l="-475" t="-553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217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A2A71-FE89-1B73-DD83-F5AEF7F9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7190883-AF0B-983A-957E-A24861E1C1F6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/>
              <p:nvPr/>
            </p:nvSpPr>
            <p:spPr>
              <a:xfrm>
                <a:off x="236306" y="868808"/>
                <a:ext cx="9277564" cy="2753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Minimization objective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𝑤𝑜𝑟𝑘𝑓𝑜𝑟𝑐𝑒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𝑢𝑡𝑖𝑙𝑖𝑧𝑒𝑑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term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term (reduces worker variance, deviations from target workforce and changes from one time instant to another)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6" y="868808"/>
                <a:ext cx="9277564" cy="2753254"/>
              </a:xfrm>
              <a:prstGeom prst="rect">
                <a:avLst/>
              </a:prstGeom>
              <a:blipFill>
                <a:blip r:embed="rId2"/>
                <a:stretch>
                  <a:fillRect l="-591" t="-1109" b="-22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1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515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Lassen</dc:creator>
  <cp:lastModifiedBy>Benny Lassen</cp:lastModifiedBy>
  <cp:revision>6</cp:revision>
  <dcterms:created xsi:type="dcterms:W3CDTF">2025-11-11T09:57:42Z</dcterms:created>
  <dcterms:modified xsi:type="dcterms:W3CDTF">2025-11-11T12:06:55Z</dcterms:modified>
</cp:coreProperties>
</file>