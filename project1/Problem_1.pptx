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0" r:id="rId2"/>
    <p:sldId id="386" r:id="rId3"/>
    <p:sldId id="385" r:id="rId4"/>
    <p:sldId id="381" r:id="rId5"/>
    <p:sldId id="382" r:id="rId6"/>
    <p:sldId id="387" r:id="rId7"/>
    <p:sldId id="390" r:id="rId8"/>
    <p:sldId id="388" r:id="rId9"/>
    <p:sldId id="389" r:id="rId10"/>
    <p:sldId id="383" r:id="rId11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7" autoAdjust="0"/>
    <p:restoredTop sz="94660"/>
  </p:normalViewPr>
  <p:slideViewPr>
    <p:cSldViewPr snapToGrid="0">
      <p:cViewPr varScale="1">
        <p:scale>
          <a:sx n="96" d="100"/>
          <a:sy n="96" d="100"/>
        </p:scale>
        <p:origin x="38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CCA97-34C4-0352-0BBE-2A2C546F6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A4102-7D2F-733A-263B-92C5CF06B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934CB-133F-B013-7EFA-B75C0E1B3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DF853-CDFD-4645-AE8C-E23BB5FE1CBD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A7CCE-0273-9050-54F0-7558DF1FF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5D29E-CCB7-1AD4-89BB-A9D3F30F8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8263F-0F94-4986-8AD6-19D6750C837D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6660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2648C-91AA-B717-6F59-18BE4EB9A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4DBD1-C62F-0CFE-1A84-548DB630A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2FB7C-3DC3-B597-0AAF-9C2FA8A4A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DF853-CDFD-4645-AE8C-E23BB5FE1CBD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A8AB0-5A5B-CAA1-972A-91ACF89C2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6DADC-D5D1-F443-CDF8-509EDB0A1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8263F-0F94-4986-8AD6-19D6750C837D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9764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8C545-6411-67EE-F128-AA398739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B3924-A45E-2789-9DA8-7067BC322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35786-4835-9906-9054-E9AC1268D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DF853-CDFD-4645-AE8C-E23BB5FE1CBD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7D1F4-A10E-4A6C-37C0-57A9FFB6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19D92-AB55-2090-70CF-E7EEFC5D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8263F-0F94-4986-8AD6-19D6750C837D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83861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B7183-4956-EF56-6A2A-07559C253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B7797-8B9B-ED59-6979-5462E77C87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289A67-7EA8-6456-A7D3-FBA6D4575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571AF-7DBF-10C6-3918-A5AF79A2D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DF853-CDFD-4645-AE8C-E23BB5FE1CBD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EEA90-A5BD-BF85-E4CB-975421EC4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8FFF4-5C7E-36B7-C8C3-BAA5712B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8263F-0F94-4986-8AD6-19D6750C837D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02533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D90B4-DD4F-D936-88E4-20017451E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4E887-B1F2-BD85-32FF-BE1FCD901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DC38D-9AD2-5BB3-AD25-CD8839F27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3227F0-A961-8068-297F-1C6100233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0FF97C-311E-0665-DE8F-54E508422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FCA62-DFFC-8D94-77C5-0833C3BBC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DF853-CDFD-4645-AE8C-E23BB5FE1CBD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515F3E-22EB-2077-13E2-1C42A10C0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600F35-84AD-348B-3942-58EB55D81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8263F-0F94-4986-8AD6-19D6750C837D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61515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AD34D-C263-09B6-76D8-672B43EF6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490EB8-590D-B194-761B-0F1F98A2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DF853-CDFD-4645-AE8C-E23BB5FE1CBD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303B87-DC9F-7D4C-C531-C29ADA9CE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EC2662-0E25-F875-11B2-09D17C07E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8263F-0F94-4986-8AD6-19D6750C837D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60227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ECB27D-1AD7-39AE-0667-C1B641D23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DF853-CDFD-4645-AE8C-E23BB5FE1CBD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8EB50F-2C45-AFF5-52D6-B47F29AF5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84F5C-8C9F-6F5E-E6E5-A70467B6E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8263F-0F94-4986-8AD6-19D6750C837D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7314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7B13E-F89C-07F6-C17B-B6700E7FA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5142C-9F3A-0685-06EB-A07C7288C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B25CEB-4CDB-9190-9093-25682FE41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4350F-6BAA-F310-1E59-B4754E9E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DF853-CDFD-4645-AE8C-E23BB5FE1CBD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3B39C-35D2-36E5-B242-20D34D3D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30504-3B9A-F7CB-E433-9D79F20D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8263F-0F94-4986-8AD6-19D6750C837D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58398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BA675-7C9C-25C0-C7FC-7A42F056A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E9BE82-5516-7A78-F559-D8702CF160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E5426-8B31-1632-FDBA-1B82CDE0F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521DB-CEBD-8532-C0C2-696703BA5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DF853-CDFD-4645-AE8C-E23BB5FE1CBD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1199D-0DD6-9D1D-C150-F91FDC42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AE97C-1816-EC58-52DA-6EF7F1B3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8263F-0F94-4986-8AD6-19D6750C837D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43838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8D54F-29A3-08D9-DC0E-379FF3DEF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EA55A4-31CE-94B1-DB88-8040463BA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A50C9-F37B-F0E5-AC76-FD6443035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DF853-CDFD-4645-AE8C-E23BB5FE1CBD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8115E-542B-1B0C-D7EB-A015FABE5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1E326-D266-9CA5-3109-D3FA8FCE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8263F-0F94-4986-8AD6-19D6750C837D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06577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499109-5343-979A-F5DE-94A23C1006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7F400-6E48-4844-A17C-35CF3B367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D7B75-0B45-476D-7880-900C30873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DF853-CDFD-4645-AE8C-E23BB5FE1CBD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03955-AD5F-7E1E-F61C-E616DFC76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339F6-017B-E6D7-6578-55ACEABD1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8263F-0F94-4986-8AD6-19D6750C837D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24884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4A94B9-9E00-4DD6-BCD4-604645044CAD}"/>
              </a:ext>
            </a:extLst>
          </p:cNvPr>
          <p:cNvSpPr/>
          <p:nvPr userDrawn="1"/>
        </p:nvSpPr>
        <p:spPr>
          <a:xfrm>
            <a:off x="5017194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39AA0F-90FD-444F-B618-EE6F4C1F122A}"/>
              </a:ext>
            </a:extLst>
          </p:cNvPr>
          <p:cNvSpPr/>
          <p:nvPr userDrawn="1"/>
        </p:nvSpPr>
        <p:spPr>
          <a:xfrm>
            <a:off x="4300452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35D740-BF58-4DAE-A85B-5EF9B6EE3615}"/>
              </a:ext>
            </a:extLst>
          </p:cNvPr>
          <p:cNvSpPr/>
          <p:nvPr userDrawn="1"/>
        </p:nvSpPr>
        <p:spPr>
          <a:xfrm>
            <a:off x="5375565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B3B2E1-FF09-40A7-993A-BFF59632C25C}"/>
              </a:ext>
            </a:extLst>
          </p:cNvPr>
          <p:cNvSpPr/>
          <p:nvPr userDrawn="1"/>
        </p:nvSpPr>
        <p:spPr>
          <a:xfrm>
            <a:off x="358371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9981C2-BC8B-44CC-9A8B-A5B381264380}"/>
              </a:ext>
            </a:extLst>
          </p:cNvPr>
          <p:cNvSpPr/>
          <p:nvPr userDrawn="1"/>
        </p:nvSpPr>
        <p:spPr>
          <a:xfrm>
            <a:off x="2866968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FAAD0A-E8F9-47F8-874E-433E4C9A92AC}"/>
              </a:ext>
            </a:extLst>
          </p:cNvPr>
          <p:cNvSpPr/>
          <p:nvPr userDrawn="1"/>
        </p:nvSpPr>
        <p:spPr>
          <a:xfrm>
            <a:off x="2150226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71ABB2-3607-4850-A2E7-141BF30EA1E4}"/>
              </a:ext>
            </a:extLst>
          </p:cNvPr>
          <p:cNvSpPr/>
          <p:nvPr userDrawn="1"/>
        </p:nvSpPr>
        <p:spPr>
          <a:xfrm>
            <a:off x="3225339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FBB6AA-DB66-48A4-BBD2-9B36C02E5371}"/>
              </a:ext>
            </a:extLst>
          </p:cNvPr>
          <p:cNvSpPr/>
          <p:nvPr userDrawn="1"/>
        </p:nvSpPr>
        <p:spPr>
          <a:xfrm>
            <a:off x="1791855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9AC868-5C63-419B-8791-593862E707C6}"/>
              </a:ext>
            </a:extLst>
          </p:cNvPr>
          <p:cNvSpPr/>
          <p:nvPr userDrawn="1"/>
        </p:nvSpPr>
        <p:spPr>
          <a:xfrm>
            <a:off x="1433484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36AF71-D03B-4190-8590-1688288FB9F2}"/>
              </a:ext>
            </a:extLst>
          </p:cNvPr>
          <p:cNvSpPr/>
          <p:nvPr userDrawn="1"/>
        </p:nvSpPr>
        <p:spPr>
          <a:xfrm>
            <a:off x="6092307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A6CEDE-A238-4C3A-B315-B3D3081EC7CC}"/>
              </a:ext>
            </a:extLst>
          </p:cNvPr>
          <p:cNvSpPr/>
          <p:nvPr userDrawn="1"/>
        </p:nvSpPr>
        <p:spPr>
          <a:xfrm>
            <a:off x="358371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ACE100-6140-4208-8CE9-DFE45B35007E}"/>
              </a:ext>
            </a:extLst>
          </p:cNvPr>
          <p:cNvSpPr/>
          <p:nvPr userDrawn="1"/>
        </p:nvSpPr>
        <p:spPr>
          <a:xfrm>
            <a:off x="4658823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75F84B-6DC9-4492-A492-95E4ABEF1B78}"/>
              </a:ext>
            </a:extLst>
          </p:cNvPr>
          <p:cNvSpPr/>
          <p:nvPr userDrawn="1"/>
        </p:nvSpPr>
        <p:spPr>
          <a:xfrm>
            <a:off x="1075113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A788D4C-E960-45E8-ABC4-72FC2128647B}"/>
              </a:ext>
            </a:extLst>
          </p:cNvPr>
          <p:cNvSpPr/>
          <p:nvPr userDrawn="1"/>
        </p:nvSpPr>
        <p:spPr>
          <a:xfrm>
            <a:off x="2508597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8D71AB-A26E-43A9-B413-A59CFBCDD9B1}"/>
              </a:ext>
            </a:extLst>
          </p:cNvPr>
          <p:cNvSpPr/>
          <p:nvPr userDrawn="1"/>
        </p:nvSpPr>
        <p:spPr>
          <a:xfrm>
            <a:off x="716742" y="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1E9C91-A1C1-432A-9523-A511B304162F}"/>
              </a:ext>
            </a:extLst>
          </p:cNvPr>
          <p:cNvSpPr/>
          <p:nvPr userDrawn="1"/>
        </p:nvSpPr>
        <p:spPr>
          <a:xfrm>
            <a:off x="0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1D3C8E1-8F58-4916-9097-718454DAC9FC}"/>
              </a:ext>
            </a:extLst>
          </p:cNvPr>
          <p:cNvSpPr/>
          <p:nvPr userDrawn="1"/>
        </p:nvSpPr>
        <p:spPr>
          <a:xfrm>
            <a:off x="5733936" y="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1465436-7CD8-4713-84B2-BE392283D713}"/>
              </a:ext>
            </a:extLst>
          </p:cNvPr>
          <p:cNvSpPr/>
          <p:nvPr userDrawn="1"/>
        </p:nvSpPr>
        <p:spPr>
          <a:xfrm>
            <a:off x="3942081" y="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4BFDB3-CC2F-4666-9557-90812A8E5147}"/>
              </a:ext>
            </a:extLst>
          </p:cNvPr>
          <p:cNvSpPr/>
          <p:nvPr userDrawn="1"/>
        </p:nvSpPr>
        <p:spPr>
          <a:xfrm>
            <a:off x="11467872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DD356C3-53D1-4AF1-B3FD-AEEFF75FDB5C}"/>
              </a:ext>
            </a:extLst>
          </p:cNvPr>
          <p:cNvSpPr/>
          <p:nvPr userDrawn="1"/>
        </p:nvSpPr>
        <p:spPr>
          <a:xfrm>
            <a:off x="10751130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8C89E7C-AF7A-4E82-B01B-1A945C7BBF79}"/>
              </a:ext>
            </a:extLst>
          </p:cNvPr>
          <p:cNvSpPr/>
          <p:nvPr userDrawn="1"/>
        </p:nvSpPr>
        <p:spPr>
          <a:xfrm>
            <a:off x="1182624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605B19F-DE4A-4705-A964-0579015AED0E}"/>
              </a:ext>
            </a:extLst>
          </p:cNvPr>
          <p:cNvSpPr/>
          <p:nvPr userDrawn="1"/>
        </p:nvSpPr>
        <p:spPr>
          <a:xfrm>
            <a:off x="10034388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D299157-3482-4535-BECD-566EFFF308AD}"/>
              </a:ext>
            </a:extLst>
          </p:cNvPr>
          <p:cNvSpPr/>
          <p:nvPr userDrawn="1"/>
        </p:nvSpPr>
        <p:spPr>
          <a:xfrm>
            <a:off x="9317646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8CCBF5-CCDC-43C9-B57D-B9DAE23B58BE}"/>
              </a:ext>
            </a:extLst>
          </p:cNvPr>
          <p:cNvSpPr/>
          <p:nvPr userDrawn="1"/>
        </p:nvSpPr>
        <p:spPr>
          <a:xfrm>
            <a:off x="8600904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412D896-790A-420A-BBFB-AFDB7BD9B603}"/>
              </a:ext>
            </a:extLst>
          </p:cNvPr>
          <p:cNvSpPr/>
          <p:nvPr userDrawn="1"/>
        </p:nvSpPr>
        <p:spPr>
          <a:xfrm>
            <a:off x="9676017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5941E70-EE67-4F80-B753-2F6426D0A9DA}"/>
              </a:ext>
            </a:extLst>
          </p:cNvPr>
          <p:cNvSpPr/>
          <p:nvPr userDrawn="1"/>
        </p:nvSpPr>
        <p:spPr>
          <a:xfrm>
            <a:off x="8242533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51E552-2222-4200-8E39-4DF2BEB677FD}"/>
              </a:ext>
            </a:extLst>
          </p:cNvPr>
          <p:cNvSpPr/>
          <p:nvPr userDrawn="1"/>
        </p:nvSpPr>
        <p:spPr>
          <a:xfrm>
            <a:off x="7884162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43002CA-9883-43A9-B000-00F9F7A14D27}"/>
              </a:ext>
            </a:extLst>
          </p:cNvPr>
          <p:cNvSpPr/>
          <p:nvPr userDrawn="1"/>
        </p:nvSpPr>
        <p:spPr>
          <a:xfrm>
            <a:off x="6809049" y="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61A1E0B-5D8C-42BB-8493-4A6E267A7C73}"/>
              </a:ext>
            </a:extLst>
          </p:cNvPr>
          <p:cNvSpPr/>
          <p:nvPr userDrawn="1"/>
        </p:nvSpPr>
        <p:spPr>
          <a:xfrm>
            <a:off x="11109501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1E86EA3-C77E-4F5B-B2D8-06ACD07DECA4}"/>
              </a:ext>
            </a:extLst>
          </p:cNvPr>
          <p:cNvSpPr/>
          <p:nvPr userDrawn="1"/>
        </p:nvSpPr>
        <p:spPr>
          <a:xfrm>
            <a:off x="7525791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DD0E5EA-DA68-48FA-984B-26F2185EF431}"/>
              </a:ext>
            </a:extLst>
          </p:cNvPr>
          <p:cNvSpPr/>
          <p:nvPr userDrawn="1"/>
        </p:nvSpPr>
        <p:spPr>
          <a:xfrm>
            <a:off x="8959275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1E5F851-80EC-44A1-B97A-D40F00A63A11}"/>
              </a:ext>
            </a:extLst>
          </p:cNvPr>
          <p:cNvSpPr/>
          <p:nvPr userDrawn="1"/>
        </p:nvSpPr>
        <p:spPr>
          <a:xfrm>
            <a:off x="716742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06D6FCB-D2DE-4100-B034-4F158AA21763}"/>
              </a:ext>
            </a:extLst>
          </p:cNvPr>
          <p:cNvSpPr/>
          <p:nvPr userDrawn="1"/>
        </p:nvSpPr>
        <p:spPr>
          <a:xfrm>
            <a:off x="6450678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3C2CDE-BD78-4521-A433-7332BF3D57FA}"/>
              </a:ext>
            </a:extLst>
          </p:cNvPr>
          <p:cNvSpPr/>
          <p:nvPr userDrawn="1"/>
        </p:nvSpPr>
        <p:spPr>
          <a:xfrm>
            <a:off x="10392759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458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A7D73F-66A8-ADE2-BB48-0119006CD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B931B-1995-0B46-9325-BA85C61D4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68D8D-060F-074E-D1FF-0000C52B0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DF853-CDFD-4645-AE8C-E23BB5FE1CBD}" type="datetimeFigureOut">
              <a:rPr lang="en-DK" smtClean="0"/>
              <a:t>10/11/2025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F1629-235B-2D5A-47A9-AA494B33B3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0B925-0E1D-3B25-61A5-9A6F50F863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8263F-0F94-4986-8AD6-19D6750C837D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28695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751717-A77D-2275-A772-529C920A9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465E79-312B-4851-A9D0-AC260BC71D21}"/>
                  </a:ext>
                </a:extLst>
              </p:cNvPr>
              <p:cNvSpPr txBox="1"/>
              <p:nvPr/>
            </p:nvSpPr>
            <p:spPr>
              <a:xfrm>
                <a:off x="143837" y="392408"/>
                <a:ext cx="11322121" cy="67622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Indicies: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𝑠𝑙𝑜𝑡𝑠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𝑔𝑖𝑣𝑒𝑛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𝑏𝑎𝑠𝑒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𝑖𝑛𝑡𝑒𝑟𝑣𝑎𝑙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15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𝑚𝑖𝑛𝑢𝑡𝑒𝑠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Decision Variables: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𝑤𝑖𝑡h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𝑠𝑒𝑡𝑢𝑝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𝑏𝑒𝑡𝑤𝑒𝑒𝑛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𝑏𝑎𝑡𝑐h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𝑖𝑛𝑑𝑖𝑐𝑎𝑡𝑜𝑟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𝑏𝑎𝑡𝑐h𝑒𝑑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𝑡𝑜𝑔𝑒𝑡h𝑒𝑟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𝑑𝑢𝑟𝑖𝑛𝑔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𝑎𝑛𝑜𝑡h𝑒𝑟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𝑢𝑛𝑖𝑡𝑠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𝑝𝑟𝑜𝑑𝑢𝑐𝑒𝑑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𝑠𝑡𝑜𝑐𝑘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order </a:t>
                </a:r>
                <a:r>
                  <a:rPr lang="en-US" b="0" i="1" dirty="0" err="1">
                    <a:latin typeface="Cambria Math" panose="02040503050406030204" pitchFamily="18" charset="0"/>
                  </a:rPr>
                  <a:t>i</a:t>
                </a:r>
                <a:r>
                  <a:rPr lang="en-US" b="0" i="1" dirty="0">
                    <a:latin typeface="Cambria Math" panose="02040503050406030204" pitchFamily="18" charset="0"/>
                  </a:rPr>
                  <a:t> is shipped at time t  </a:t>
                </a:r>
                <a:r>
                  <a:rPr lang="en-US" b="0" dirty="0">
                    <a:latin typeface="Cambria Math" panose="02040503050406030204" pitchFamily="18" charset="0"/>
                  </a:rPr>
                  <a:t>(binary)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𝑠h𝑖𝑝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𝑠𝑙𝑜𝑡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𝑤h𝑒𝑛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𝑠h𝑖𝑝𝑝𝑒𝑑</m:t>
                    </m:r>
                  </m:oMath>
                </a14:m>
                <a:r>
                  <a:rPr lang="en-US" dirty="0"/>
                  <a:t>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𝑒𝑎𝑟𝑙𝑦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𝑐𝑜𝑚𝑝𝑙𝑒𝑡𝑒𝑠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𝑏𝑒𝑓𝑜𝑟𝑒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𝑑𝑎𝑡𝑒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𝑠h𝑖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𝑐𝑜𝑚𝑝𝑙𝑒𝑡𝑒𝑠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𝑎𝑓𝑡𝑒𝑟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𝑑𝑢𝑒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𝑑𝑎𝑡𝑒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h𝑎𝑠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𝑎𝑣𝑎𝑖𝑙𝑎𝑏𝑙𝑒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𝑖𝑛𝑣𝑒𝑛𝑡𝑜𝑟𝑦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𝑢𝑠𝑒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r>
                  <a:rPr lang="en-US" dirty="0"/>
                  <a:t>Decision Variables (OTIF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𝑎𝑡𝑒𝑛𝑒𝑠𝑠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𝑒𝑎𝑟𝑙𝑦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 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465E79-312B-4851-A9D0-AC260BC71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37" y="392408"/>
                <a:ext cx="11322121" cy="6762236"/>
              </a:xfrm>
              <a:prstGeom prst="rect">
                <a:avLst/>
              </a:prstGeom>
              <a:blipFill>
                <a:blip r:embed="rId2"/>
                <a:stretch>
                  <a:fillRect l="-485" t="-360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1893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38535-0F2C-B820-DFB1-AE36788CF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058A8F-6805-188E-CB13-06C41999DDBF}"/>
                  </a:ext>
                </a:extLst>
              </p:cNvPr>
              <p:cNvSpPr txBox="1"/>
              <p:nvPr/>
            </p:nvSpPr>
            <p:spPr>
              <a:xfrm>
                <a:off x="174659" y="382134"/>
                <a:ext cx="11322121" cy="71061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Decision Variables (Workforce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𝑢𝑠𝑒𝑑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𝑎𝑐𝑡𝑢𝑎𝑙𝑙𝑦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(integer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𝑚𝑎𝑥𝑖𝑚𝑎𝑙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𝑢𝑠𝑒𝑑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𝑠𝑙𝑜𝑡</m:t>
                    </m:r>
                  </m:oMath>
                </a14:m>
                <a:r>
                  <a:rPr lang="en-US" dirty="0"/>
                  <a:t> 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𝑚𝑖𝑛𝑖𝑚𝑢𝑚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𝑢𝑠𝑒𝑑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𝑎𝑛𝑦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𝑠𝑙𝑜𝑡</m:t>
                    </m:r>
                  </m:oMath>
                </a14:m>
                <a:r>
                  <a:rPr lang="en-US" dirty="0"/>
                  <a:t> 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𝑑𝑒𝑣𝑖𝑎𝑡𝑖𝑜𝑛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𝑎𝑏𝑜𝑣𝑒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𝑎𝑏𝑜𝑣𝑒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𝑡𝑎𝑟𝑔𝑒𝑟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(non-negative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𝑑𝑒𝑣𝑖𝑎𝑡𝑖𝑜𝑛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𝑏𝑒𝑙𝑜𝑤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𝑏𝑒𝑙𝑜𝑤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𝑡𝑎𝑟𝑔𝑒𝑟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(non-negative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𝑤𝑜𝑟𝑘𝑓𝑜𝑟𝑐𝑒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𝑐h𝑎𝑛𝑔𝑒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𝑎𝑏𝑠𝑜𝑙𝑢𝑡𝑒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𝑐h𝑎𝑛𝑔𝑒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(non-negative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𝑤𝑜𝑟𝑘𝑓𝑜𝑟𝑐𝑒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𝑖𝑛𝑐𝑟𝑒𝑎𝑠𝑒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𝑖𝑛𝑐𝑟𝑒𝑎𝑠𝑒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(non-negative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𝑤𝑜𝑟𝑘𝑓𝑜𝑟𝑐𝑒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𝑑𝑒𝑐𝑟𝑒𝑎𝑠𝑒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𝑑𝑒𝑐𝑟𝑒𝑎𝑠𝑒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(non-negative integer)</a:t>
                </a:r>
              </a:p>
              <a:p>
                <a:r>
                  <a:rPr lang="en-US" dirty="0"/>
                  <a:t>Decision Variables (WIP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𝑎𝑐𝑡𝑢𝑎𝑙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𝑐𝑜𝑚𝑝𝑙𝑒𝑡𝑖𝑜𝑛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𝑎𝑐𝑡𝑢𝑎𝑙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𝑐𝑜𝑚𝑝𝑙𝑒𝑡𝑖𝑜𝑛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𝑓𝑙𝑜𝑤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𝑐𝑜𝑚𝑝𝑙𝑒𝑡𝑖𝑜𝑛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(non-negative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𝑖𝑛𝑑𝑖𝑐𝑎𝑡𝑜𝑟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𝑝𝑟𝑜𝑐𝑒𝑠𝑠𝑖𝑛𝑔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𝑝𝑟𝑜𝑐𝑒𝑠𝑠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(non-negative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𝑤𝑒𝑖𝑔h𝑡𝑒𝑑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𝑤𝑒𝑖𝑔h𝑡𝑒𝑑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𝑊𝐼𝑃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(non-negative integer)</a:t>
                </a:r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058A8F-6805-188E-CB13-06C41999D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59" y="382134"/>
                <a:ext cx="11322121" cy="7106112"/>
              </a:xfrm>
              <a:prstGeom prst="rect">
                <a:avLst/>
              </a:prstGeom>
              <a:blipFill>
                <a:blip r:embed="rId2"/>
                <a:stretch>
                  <a:fillRect l="-485" t="-429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361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9C637-DBCD-970B-38BA-AF9A4BAD7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A63B73-7ABF-F982-3283-7F255DB0BDB9}"/>
                  </a:ext>
                </a:extLst>
              </p:cNvPr>
              <p:cNvSpPr txBox="1"/>
              <p:nvPr/>
            </p:nvSpPr>
            <p:spPr>
              <a:xfrm>
                <a:off x="143837" y="392408"/>
                <a:ext cx="11322121" cy="31618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Input parameters: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𝑝𝑟𝑜𝑐𝑒𝑠𝑠𝑖𝑛𝑔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(positive real, dividable by base time interval)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𝑠𝑒𝑡𝑢𝑝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(positive real , dividable by base time interval)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𝑎𝑣𝑎𝑖𝑙𝑎𝑏𝑙𝑒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𝑖𝑛𝑖𝑡𝑖𝑎𝑙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𝑖𝑛𝑣𝑒𝑛𝑡𝑜𝑟𝑦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𝑠𝑡𝑜𝑐𝑘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𝑟𝑒𝑠𝑒𝑟𝑣𝑒𝑑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𝑐𝑎𝑝𝑎𝑐𝑖𝑡𝑦</m:t>
                    </m:r>
                  </m:oMath>
                </a14:m>
                <a:r>
                  <a:rPr lang="en-US" dirty="0"/>
                  <a:t> (positive real less than 1)</a:t>
                </a:r>
              </a:p>
              <a:p>
                <a:r>
                  <a:rPr lang="en-US" dirty="0"/>
                  <a:t>Input parameters (OTIF):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[1,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𝑝𝑟𝑖𝑜𝑟𝑖𝑡𝑦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𝑝𝑟𝑖𝑜𝑟𝑖𝑡𝑦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𝑤𝑒𝑖𝑔h𝑡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(positive integer, e.g.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Input parameters (Workforce):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𝑖𝑑𝑒𝑎𝑙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𝑠𝑡𝑒𝑎𝑑𝑦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𝑙𝑒𝑣𝑒𝑙</m:t>
                    </m:r>
                  </m:oMath>
                </a14:m>
                <a:r>
                  <a:rPr lang="en-US" dirty="0"/>
                  <a:t> (positive integer)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A63B73-7ABF-F982-3283-7F255DB0B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37" y="392408"/>
                <a:ext cx="11322121" cy="3161891"/>
              </a:xfrm>
              <a:prstGeom prst="rect">
                <a:avLst/>
              </a:prstGeom>
              <a:blipFill>
                <a:blip r:embed="rId2"/>
                <a:stretch>
                  <a:fillRect l="-485" t="-771" b="-1734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1729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C13421-0F90-7969-F9C5-7159BC3B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A5680ED-2AF1-4B2F-A48F-407C321F36A1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Constraints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C3734A-9FBF-46EC-8FD4-334C237971E7}"/>
                  </a:ext>
                </a:extLst>
              </p:cNvPr>
              <p:cNvSpPr txBox="1"/>
              <p:nvPr/>
            </p:nvSpPr>
            <p:spPr>
              <a:xfrm>
                <a:off x="184933" y="817438"/>
                <a:ext cx="8558373" cy="5842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One assignment: Each order assigned to only one line, one time, and one worker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Line capacity: No overlap of order on the same line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∗(1−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))</m:t>
                                    </m:r>
                                  </m:e>
                                </m:nary>
                              </m:sub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worker is working on a given packing order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b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Workers can only work during their availability windows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Movement balance equation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−1 </m:t>
                                </m:r>
                              </m:e>
                            </m:d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  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Reserved line capacity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sub>
                              <m:sup/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  <m:sup/>
                                  <m:e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&lt;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</m:d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nary>
                                          <m:naryPr>
                                            <m:chr m:val="∑"/>
                                            <m:supHide m:val="on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  <m:sup/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∗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∗(1−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))</m:t>
                                            </m:r>
                                          </m:e>
                                        </m:nary>
                                      </m:sub>
                                      <m:sup/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nary>
                                  </m:e>
                                </m:nary>
                              </m:e>
                            </m:nary>
                          </m:e>
                        </m:nary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&lt;(1−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C3734A-9FBF-46EC-8FD4-334C23797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3" y="817438"/>
                <a:ext cx="8558373" cy="5842433"/>
              </a:xfrm>
              <a:prstGeom prst="rect">
                <a:avLst/>
              </a:prstGeom>
              <a:blipFill>
                <a:blip r:embed="rId2"/>
                <a:stretch>
                  <a:fillRect l="-427" t="-418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6768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F50DA-56C6-347C-EC57-0BF872192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B1B8E65F-0C5A-B062-5F38-E2D1F417DC92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9FC7FE-F316-4373-9ED7-6F58E2392BEE}"/>
                  </a:ext>
                </a:extLst>
              </p:cNvPr>
              <p:cNvSpPr txBox="1"/>
              <p:nvPr/>
            </p:nvSpPr>
            <p:spPr>
              <a:xfrm>
                <a:off x="195208" y="971550"/>
                <a:ext cx="8989888" cy="3526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Reserved worker capacity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&lt;(1−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Line in use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b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Each order ships exactly once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𝑠h𝑖𝑝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   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Shipping time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𝑠h𝑖𝑝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𝑠h𝑖𝑝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9FC7FE-F316-4373-9ED7-6F58E2392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08" y="971550"/>
                <a:ext cx="8989888" cy="3526415"/>
              </a:xfrm>
              <a:prstGeom prst="rect">
                <a:avLst/>
              </a:prstGeom>
              <a:blipFill>
                <a:blip r:embed="rId2"/>
                <a:stretch>
                  <a:fillRect l="-542" t="-4836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4590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6A5877-DEA7-5CC9-4DFB-0355FEBEE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DB996B68-61F0-8A74-9E73-EDA176A50BDD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(OTIF)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A03616-4B35-E540-2B6B-A6785F45B7F2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6015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Start time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time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start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∀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Completion time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time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𝑜𝑚𝑝𝑙𝑒𝑡𝑒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  ∀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Lateness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𝑙𝑎𝑡𝑒𝑛𝑒𝑠𝑠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𝑐𝑜𝑚𝑝𝑙𝑒𝑡𝑒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𝑙𝑎𝑡𝑒𝑛𝑒𝑠𝑠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≥0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Earliness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early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𝑐𝑜𝑚𝑝𝑙𝑒𝑡𝑒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early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≥0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Identify late orders (forces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𝑙𝑎𝑡𝑒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en-US" dirty="0"/>
                  <a:t> if order is late)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𝑙𝑎𝑡𝑒𝑛𝑒𝑠𝑠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𝑐𝑜𝑚𝑝𝑙𝑒𝑡𝑒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A03616-4B35-E540-2B6B-A6785F45B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6015365"/>
              </a:xfrm>
              <a:prstGeom prst="rect">
                <a:avLst/>
              </a:prstGeom>
              <a:blipFill>
                <a:blip r:embed="rId2"/>
                <a:stretch>
                  <a:fillRect l="-407" t="-405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0755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9889DB-6B36-8AA8-6282-7E80F14C4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63B473FC-58E4-9018-A887-FA3E820295B2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(Shipping)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CF3445-FE60-A6C7-B485-DBB5A00ACA97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4027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Cannot ship before order complete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𝑠h𝑖𝑝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𝑐𝑜𝑚𝑝𝑙𝑒𝑡𝑒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Has inventory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h𝑎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𝑖𝑛𝑣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Can only ship when inventory is sufficient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CF3445-FE60-A6C7-B485-DBB5A00AC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4027385"/>
              </a:xfrm>
              <a:prstGeom prst="rect">
                <a:avLst/>
              </a:prstGeom>
              <a:blipFill>
                <a:blip r:embed="rId2"/>
                <a:stretch>
                  <a:fillRect l="-407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1875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0957E-51C0-7FDB-F819-4FCBDD9B5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39622EF5-3E1C-2BB6-21B9-32D8AC538AF6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(WIP)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1A0692-C3B3-EE33-CBB4-3EA2405DD035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5799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Flow time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𝑓𝑙𝑜𝑤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𝑠h𝑖𝑝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Number of packing orders produced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𝑝𝑟𝑜𝑑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Inventory balance equation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𝑝𝑟𝑜𝑑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WIP indicator (order </a:t>
                </a:r>
                <a:r>
                  <a:rPr lang="en-US" dirty="0" err="1"/>
                  <a:t>i</a:t>
                </a:r>
                <a:r>
                  <a:rPr lang="en-US" dirty="0"/>
                  <a:t> is being worked on at time t or in inventory)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wip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indicator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)≤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𝑖𝑛𝑣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WIP at time t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wip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𝑖𝑛𝑑𝑖𝑐𝑎𝑡𝑜𝑟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1A0692-C3B3-EE33-CBB4-3EA2405DD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5799216"/>
              </a:xfrm>
              <a:prstGeom prst="rect">
                <a:avLst/>
              </a:prstGeom>
              <a:blipFill>
                <a:blip r:embed="rId2"/>
                <a:stretch>
                  <a:fillRect l="-407" t="-420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9900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158F7-2B83-4564-7320-57AC67FDF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7B01E680-F8E4-D313-E8BC-07113955E59E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(Workforce)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B9FF36-F514-694C-87F8-FD6B74978F09}"/>
                  </a:ext>
                </a:extLst>
              </p:cNvPr>
              <p:cNvSpPr txBox="1"/>
              <p:nvPr/>
            </p:nvSpPr>
            <p:spPr>
              <a:xfrm>
                <a:off x="205483" y="971550"/>
                <a:ext cx="8989888" cy="7617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Active workers per time slot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used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Maximum workforce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𝑢𝑠𝑒𝑑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Minium workforce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used</m:t>
                        </m:r>
                      </m:sub>
                    </m:sSub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Absolute deviation (the solver will choose only one deviation to be positive at a given time)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used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𝑑𝑒𝑣𝑖𝑎𝑡𝑖𝑜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𝑎𝑏𝑜𝑣𝑒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𝑑𝑒𝑣𝑖𝑎𝑡𝑖𝑜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𝑏𝑒𝑙𝑜𝑤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𝑑𝑒𝑣𝑖𝑎𝑡𝑖𝑜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𝑑𝑒𝑣𝑖𝑎𝑡𝑖𝑜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𝑎𝑏𝑜𝑣𝑒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𝑑𝑒𝑣𝑖𝑎𝑡𝑖𝑜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𝑏𝑒𝑙𝑜𝑤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Workforce changes between periods (the solver will choose only one deviation to be positive at a given time)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𝑤𝑜𝑘𝑒𝑟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𝑢𝑠𝑒𝑑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𝑢𝑠𝑒𝑑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𝑖𝑛𝑐𝑟𝑒𝑎𝑠𝑒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𝑑𝑒𝑐𝑟𝑒𝑎𝑠𝑒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𝑐h𝑎𝑛𝑔𝑒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𝑖𝑛𝑐𝑟𝑒𝑎𝑠𝑒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𝑑𝑒𝑐𝑟𝑒𝑎𝑠𝑒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Workforce range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𝑟𝑎𝑛𝑔𝑒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B9FF36-F514-694C-87F8-FD6B74978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3" y="971550"/>
                <a:ext cx="8989888" cy="7617791"/>
              </a:xfrm>
              <a:prstGeom prst="rect">
                <a:avLst/>
              </a:prstGeom>
              <a:blipFill>
                <a:blip r:embed="rId2"/>
                <a:stretch>
                  <a:fillRect l="-475" t="-320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39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FC076-D2F4-6595-98A5-546EF880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85E31FCF-C659-6CE0-EBF0-162B9B8B4292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Objective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3D2E45-AA30-451C-8152-F32152C84802}"/>
                  </a:ext>
                </a:extLst>
              </p:cNvPr>
              <p:cNvSpPr txBox="1"/>
              <p:nvPr/>
            </p:nvSpPr>
            <p:spPr>
              <a:xfrm>
                <a:off x="236306" y="868808"/>
                <a:ext cx="9277564" cy="5314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Minimization objective function: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𝑜𝑡𝑖𝑓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𝑤𝑜𝑟𝑘𝑓𝑜𝑟𝑐𝑒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𝑡𝑜𝑡𝑎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𝑢𝑡𝑖𝑙𝑖𝑧𝑒𝑑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OTIF term (heavy penalty for late order but also penalizes according to lateness)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otif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𝑝𝑟𝑖𝑜𝑟𝑖𝑡𝑦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∗( 7 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+3 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𝑙𝑎𝑡𝑒𝑛𝑒𝑠𝑠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WIP term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=4∗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+6∗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𝑡𝑖𝑚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𝑓𝑙𝑜𝑤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Workforce term (reduces worker variance, deviations from target workforce and changes from one time instant to another)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 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𝑟𝑎𝑛𝑔𝑒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+3 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𝑑𝑒𝑣𝑖𝑎𝑡𝑖𝑜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+2∗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𝑤𝑜𝑟𝑘𝑓𝑜𝑟𝑐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𝑐h𝑎𝑛𝑔𝑒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Number of lines fully utilized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𝑡𝑜𝑡𝑎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𝑢𝑡𝑖𝑙𝑖𝑧𝑒𝑑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3D2E45-AA30-451C-8152-F32152C84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06" y="868808"/>
                <a:ext cx="9277564" cy="5314725"/>
              </a:xfrm>
              <a:prstGeom prst="rect">
                <a:avLst/>
              </a:prstGeom>
              <a:blipFill>
                <a:blip r:embed="rId2"/>
                <a:stretch>
                  <a:fillRect l="-591" t="-574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5745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1327</Words>
  <Application>Microsoft Office PowerPoint</Application>
  <PresentationFormat>Widescreen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Benny Lassen</dc:creator>
  <cp:lastModifiedBy>Benny Lassen</cp:lastModifiedBy>
  <cp:revision>1</cp:revision>
  <dcterms:created xsi:type="dcterms:W3CDTF">2025-11-10T22:49:49Z</dcterms:created>
  <dcterms:modified xsi:type="dcterms:W3CDTF">2025-11-10T22:50:51Z</dcterms:modified>
</cp:coreProperties>
</file>