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2" r:id="rId2"/>
    <p:sldId id="393" r:id="rId3"/>
    <p:sldId id="394" r:id="rId4"/>
    <p:sldId id="395" r:id="rId5"/>
    <p:sldId id="397" r:id="rId6"/>
    <p:sldId id="398" r:id="rId7"/>
    <p:sldId id="399" r:id="rId8"/>
    <p:sldId id="400" r:id="rId9"/>
    <p:sldId id="401" r:id="rId10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D272-C2BA-600A-BADA-8C111DDB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7BED-2AEC-6B20-6539-71B53FD3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1245-AC22-B40F-F27D-530BBFFA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60E2-D861-12A4-DFFF-B5ED8D40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FE59-73EA-6C50-2FB0-F0647429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254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9150-5080-0EF9-93E8-81249181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550C-A8AA-4198-9B01-0948B3A6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F23D-636D-6EB5-2FFD-88C9D25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66EF-E9F2-F753-D7C2-3CA75E7E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8024-7224-D837-ED16-3BB31210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967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2AE2-08D9-1A8B-CEBA-D81F4B63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9F4-F40C-F933-C6F2-64306A09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E934-86F3-5B0A-FB91-C8AD9397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B4C1-A04A-3ECC-1234-F87698E6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2FA5-FCAF-2018-FBC3-658EA04C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7549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874E-57C1-C286-D3D8-A4185C8E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6C34-9991-3F5D-ECEA-45153006F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6AED-DAB3-5E9E-FF73-179553C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EF68-4EEA-7932-E981-CC8CDFF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EA89E-0D33-411E-9220-E8212C48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6C86F-69B9-4D8E-ACBB-216BD803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2132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20E0-7E90-05C5-6BBC-2018080A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D9CE-FBA2-C653-4ED4-F03C152C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C9B5-06E8-93D4-9A9A-B79B8804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95269-40CB-46AB-EC32-1791D525B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41363-6512-87BE-2506-8AA735235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F5581-1423-6D27-6029-2AB7E5B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F8B1C-BF42-1310-81CC-527BAA5B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22521-1D3A-6F53-E42B-8752079C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164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AA71-2E28-27B6-DDBD-E22CF226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2941C-BA66-02D0-16FB-038D7B45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2BA80-B620-75A8-A499-8FF497F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53474-0952-9E3E-33AD-F3191FD5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962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4A3F3-FE98-B1E2-925C-9FFEDBDF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EE868-68DB-24CC-0FD2-5D99EEEC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037D-CD03-E4D1-8E03-56EC3182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021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7FA-68BA-339B-3EAD-19AFC634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C6BC-5A21-5740-ED43-9A435939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9D92-F965-EE99-20CA-1046F7984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29E-AFBE-13E2-8FF9-7436DAF6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0B0D-E579-55C4-9A33-43D53943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9FBC-3D39-CE26-0846-64E2DFED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516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1DC-1DE8-60B4-0BBA-F3EF12DD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8CEF2-09EC-7D1A-008F-83C546108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9400A-849F-2638-E98A-23C7CC3C9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DF2CA-330E-7F43-9691-28D27E80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BDF9E-7185-94B0-2422-A1B714C2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7D80C-AC6B-B635-4062-A3D2C58B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117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2134-CFDF-73D5-4446-5C13EDA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462C-5505-DD2C-774B-5643E0BD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BEB02-14D3-E028-93C1-1F20E71D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A528-0AC9-E7E0-9998-C3C2788E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ACC3-0D0B-717B-F6A4-8B6353E8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5333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ADB10-9A06-BCC1-F088-D8168F64E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C0A45-6DEE-D891-74A4-35A930F3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0214-3711-8332-CF48-989476FE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B661-D0B9-39E5-1816-2CF5B5A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C4E4-3FF3-FE64-3A1D-E46A714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21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6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039F2-F5D0-2234-3A09-9E78A711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F629-F722-7760-849E-5968FEFA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A366-A7BD-03C2-C1A7-DBADCB7E6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91D7-2B3F-2903-5D7C-B30636DAF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96882-9E64-682E-A82A-EDF623D77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80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85FE-3484-FD3A-6FBD-9B5C351C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𝑢𝑛𝑖𝑞𝑢𝑒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(used to track demanded packing orders)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(decision to produce a product)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(shipping requirements)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(see below)</a:t>
                </a:r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𝑎𝑠𝑠𝑖𝑔𝑛𝑒𝑑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real)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binary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 dirty="0"/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Events tracked: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4524315"/>
              </a:xfrm>
              <a:prstGeom prst="rect">
                <a:avLst/>
              </a:prstGeom>
              <a:blipFill>
                <a:blip r:embed="rId2"/>
                <a:stretch>
                  <a:fillRect l="-485" t="-53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99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955DE-95E0-C21D-C847-9EE0A554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674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Decision Variables (OTIF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𝑒𝑣𝑒𝑛𝑡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𝑛𝑜𝑡𝑐𝑜𝑚𝑝𝑒𝑡𝑒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𝑒𝑣𝑒𝑛𝑡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(relaxed too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(relaxed too real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(relaxed too real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𝑝𝑟𝑜𝑑𝑏𝑒𝑓𝑜𝑟𝑒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𝑟𝑒𝑎𝑑𝑦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𝑠h𝑖𝑝𝑠</m:t>
                    </m:r>
                  </m:oMath>
                </a14:m>
                <a:r>
                  <a:rPr lang="en-US" dirty="0"/>
                  <a:t> (non 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𝑝𝑟𝑜𝑑𝑜𝑟𝑑𝑒𝑟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𝑠h𝑖𝑝𝑠</m:t>
                    </m:r>
                  </m:oMath>
                </a14:m>
                <a:r>
                  <a:rPr lang="en-US" dirty="0"/>
                  <a:t> (non 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𝑎𝑓𝑡𝑒𝑟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𝑓𝑢𝑙𝑙𝑓𝑖𝑙𝑙𝑖𝑛𝑔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(non negative integer)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𝑠h𝑖𝑝𝑝𝑖𝑛𝑔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  <a:r>
                  <a:rPr lang="en-US" dirty="0">
                    <a:latin typeface="Cambria Math" panose="02040503050406030204" pitchFamily="18" charset="0"/>
                  </a:rPr>
                  <a:t>(non negative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𝑠h𝑖𝑝𝑝𝑒𝑑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𝑠h𝑖𝑝𝑝𝑒𝑑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𝑠𝑎𝑚𝑒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6740307"/>
              </a:xfrm>
              <a:prstGeom prst="rect">
                <a:avLst/>
              </a:prstGeom>
              <a:blipFill>
                <a:blip r:embed="rId2"/>
                <a:stretch>
                  <a:fillRect l="-48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06E1D-15A5-92BA-EDC0-CC6BB03F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𝑐h𝑎𝑛𝑔𝑖𝑛𝑔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(positive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𝑝𝑙𝑎𝑛𝑛𝑖𝑛𝑔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h𝑜𝑟𝑖𝑧𝑜𝑛</m:t>
                    </m:r>
                  </m:oMath>
                </a14:m>
                <a:r>
                  <a:rPr lang="en-US" dirty="0"/>
                  <a:t> (positive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𝑡𝑦𝑝𝑒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𝑝𝑟𝑜𝑑𝑡𝑦𝑝𝑒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𝑞𝑢𝑎𝑛𝑡𝑖𝑡𝑦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3139321"/>
              </a:xfrm>
              <a:prstGeom prst="rect">
                <a:avLst/>
              </a:prstGeom>
              <a:blipFill>
                <a:blip r:embed="rId2"/>
                <a:stretch>
                  <a:fillRect l="-485" t="-777" b="-233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93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16B86-BA30-2192-9F58-FCC5413B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C5C6173-2F66-44D3-FBD1-C8C60BD37D2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5962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at most assigned to only one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dirty="0"/>
                  <a:t>Processing time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Time horizon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utilization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5962145"/>
              </a:xfrm>
              <a:prstGeom prst="rect">
                <a:avLst/>
              </a:prstGeom>
              <a:blipFill>
                <a:blip r:embed="rId2"/>
                <a:stretch>
                  <a:fillRect l="-427" t="-40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29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28078-8248-75FE-CA26-A20350C9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13AF1529-787B-5F45-D871-C4595748BE0B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D2F41-C1EC-CAEC-38A0-4003889CCF21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Lateness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Identify late orders (forces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𝑙𝑎𝑡𝑒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dirty="0"/>
                  <a:t> if order is late)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0]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D2F41-C1EC-CAEC-38A0-4003889CC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2585323"/>
              </a:xfrm>
              <a:prstGeom prst="rect">
                <a:avLst/>
              </a:prstGeom>
              <a:blipFill>
                <a:blip r:embed="rId2"/>
                <a:stretch>
                  <a:fillRect l="-407" t="-943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47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C9B9-5D5D-2CA5-5125-BC9F5C5D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28E86123-E9C7-5066-7FDD-4E35F8156893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(Demand)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4365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Tracking produced items for demand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𝑝𝑟𝑜𝑑𝑏𝑒𝑓𝑜𝑟𝑒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𝑡𝑦𝑝𝑒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𝑝𝑟𝑜𝑑𝑜𝑟𝑑𝑒𝑟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nary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𝑝𝑟𝑜𝑑𝑜𝑟𝑑𝑒𝑟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𝑝𝑟𝑜𝑑𝑜𝑟𝑑𝑒𝑟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br>
                  <a:rPr lang="en-US" dirty="0"/>
                </a:br>
                <a:r>
                  <a:rPr lang="en-US" dirty="0"/>
                  <a:t>for small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 no earlier than due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4365554"/>
              </a:xfrm>
              <a:prstGeom prst="rect">
                <a:avLst/>
              </a:prstGeom>
              <a:blipFill>
                <a:blip r:embed="rId2"/>
                <a:stretch>
                  <a:fillRect l="-407" t="-55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00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70061-7547-F327-C529-69EFBB08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6C9AFF8-5B72-2472-DDA3-52AA2E78C00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11376802" cy="3014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𝑝𝑟𝑜𝑑𝑡𝑦𝑝𝑒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𝑠h𝑖𝑝𝑝𝑒𝑑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𝑞𝑡𝑦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𝑠h𝑖𝑝𝑝𝑒𝑑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𝑠h𝑖𝑝𝑝𝑒𝑑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11376802" cy="3014543"/>
              </a:xfrm>
              <a:prstGeom prst="rect">
                <a:avLst/>
              </a:prstGeom>
              <a:blipFill>
                <a:blip r:embed="rId2"/>
                <a:stretch>
                  <a:fillRect l="-321" t="-80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0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2AD6-C9F3-CE08-F277-F7E8E62F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E3BFCDD-F1B9-AEDE-B6CF-952ECEED66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6604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𝑛𝑜𝑡𝑐𝑜𝑚𝑝𝑙𝑒𝑡𝑒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𝑛𝑜𝑡𝑐𝑜𝑚𝑝𝑙𝑒𝑡𝑒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br>
                  <a:rPr lang="en-US" b="0" dirty="0"/>
                </a:br>
                <a:r>
                  <a:rPr lang="en-US" b="0" dirty="0"/>
                  <a:t>This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𝑛𝑜𝑡𝑐𝑜𝑚𝑝𝑙𝑒𝑡𝑒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𝑠𝑡𝑎𝑟𝑡𝑒𝑑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𝑛𝑜𝑡𝑐𝑜𝑚𝑝𝑙𝑒𝑡𝑒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𝑛𝑜𝑡𝑐𝑜𝑚𝑝𝑙𝑒𝑡𝑒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6604116"/>
              </a:xfrm>
              <a:prstGeom prst="rect">
                <a:avLst/>
              </a:prstGeom>
              <a:blipFill>
                <a:blip r:embed="rId2"/>
                <a:stretch>
                  <a:fillRect l="-475" t="-36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17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A2A71-FE89-1B73-DD83-F5AEF7F9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7190883-AF0B-983A-957E-A24861E1C1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4960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𝑜𝑡𝑖𝑓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𝑢𝑡𝑖𝑙𝑖𝑧𝑒𝑑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OTIF term (heavy penalty for late order but also penalizes according to lateness)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otif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𝑝𝑟𝑖𝑜𝑟𝑖𝑡𝑦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∗( 7 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+3 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lines fully utilized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𝑢𝑡𝑖𝑙𝑖𝑧𝑒𝑑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4960012"/>
              </a:xfrm>
              <a:prstGeom prst="rect">
                <a:avLst/>
              </a:prstGeom>
              <a:blipFill>
                <a:blip r:embed="rId2"/>
                <a:stretch>
                  <a:fillRect l="-591" t="-61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1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952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37</cp:revision>
  <dcterms:created xsi:type="dcterms:W3CDTF">2025-11-11T09:57:42Z</dcterms:created>
  <dcterms:modified xsi:type="dcterms:W3CDTF">2025-11-11T19:57:57Z</dcterms:modified>
</cp:coreProperties>
</file>