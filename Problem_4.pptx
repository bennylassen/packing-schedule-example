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92" r:id="rId2"/>
    <p:sldId id="393" r:id="rId3"/>
    <p:sldId id="394" r:id="rId4"/>
    <p:sldId id="395" r:id="rId5"/>
    <p:sldId id="396" r:id="rId6"/>
    <p:sldId id="397" r:id="rId7"/>
    <p:sldId id="398" r:id="rId8"/>
    <p:sldId id="399" r:id="rId9"/>
    <p:sldId id="400" r:id="rId10"/>
    <p:sldId id="401" r:id="rId11"/>
  </p:sldIdLst>
  <p:sldSz cx="12192000" cy="6858000"/>
  <p:notesSz cx="6858000" cy="9144000"/>
  <p:defaultTextStyle>
    <a:defPPr>
      <a:defRPr lang="en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7" autoAdjust="0"/>
    <p:restoredTop sz="94660"/>
  </p:normalViewPr>
  <p:slideViewPr>
    <p:cSldViewPr snapToGrid="0">
      <p:cViewPr varScale="1">
        <p:scale>
          <a:sx n="96" d="100"/>
          <a:sy n="96" d="100"/>
        </p:scale>
        <p:origin x="388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8BD272-C2BA-600A-BADA-8C111DDB14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957BED-2AEC-6B20-6539-71B53FD397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731245-AC22-B40F-F27D-530BBFFA53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989AE-4FB7-4B7D-93D5-B178C79D21E6}" type="datetimeFigureOut">
              <a:rPr lang="en-DK" smtClean="0"/>
              <a:t>11/11/2025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3260E2-D861-12A4-DFFF-B5ED8D40AE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69FE59-73EA-6C50-2FB0-F06474299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287DA8-5905-40A7-99E2-12B6B0631B85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1525465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BF9150-5080-0EF9-93E8-81249181C4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5C550C-A8AA-4198-9B01-0948B3A601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F2F23D-636D-6EB5-2FFD-88C9D25DCD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989AE-4FB7-4B7D-93D5-B178C79D21E6}" type="datetimeFigureOut">
              <a:rPr lang="en-DK" smtClean="0"/>
              <a:t>11/11/2025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9266EF-E9F2-F753-D7C2-3CA75E7ED6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148024-7224-D837-ED16-3BB31210DD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287DA8-5905-40A7-99E2-12B6B0631B85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3396740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D42AE2-08D9-1A8B-CEBA-D81F4B630F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EFC9F4-F40C-F933-C6F2-64306A09EF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D4E934-86F3-5B0A-FB91-C8AD939728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989AE-4FB7-4B7D-93D5-B178C79D21E6}" type="datetimeFigureOut">
              <a:rPr lang="en-DK" smtClean="0"/>
              <a:t>11/11/2025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EEB4C1-A04A-3ECC-1234-F87698E671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BE2FA5-FCAF-2018-FBC3-658EA04C4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287DA8-5905-40A7-99E2-12B6B0631B85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9754929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96874E-57C1-C286-D3D8-A4185C8EB3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576C34-9991-3F5D-ECEA-45153006F7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C16AED-DAB3-5E9E-FF73-179553C85D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7CEF68-4EEA-7932-E981-CC8CDFF41C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989AE-4FB7-4B7D-93D5-B178C79D21E6}" type="datetimeFigureOut">
              <a:rPr lang="en-DK" smtClean="0"/>
              <a:t>11/11/2025</a:t>
            </a:fld>
            <a:endParaRPr lang="en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5EA89E-0D33-411E-9220-E8212C485F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06C86F-69B9-4D8E-ACBB-216BD803BA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287DA8-5905-40A7-99E2-12B6B0631B85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7213258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D920E0-7E90-05C5-6BBC-2018080A35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4CD9CE-FBA2-C653-4ED4-F03C152CA6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15C9B5-06E8-93D4-9A9A-B79B8804CC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E95269-40CB-46AB-EC32-1791D525B8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E041363-6512-87BE-2506-8AA7352358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F0F5581-1423-6D27-6029-2AB7E5B7C3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989AE-4FB7-4B7D-93D5-B178C79D21E6}" type="datetimeFigureOut">
              <a:rPr lang="en-DK" smtClean="0"/>
              <a:t>11/11/2025</a:t>
            </a:fld>
            <a:endParaRPr lang="en-D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24F8B1C-BF42-1310-81CC-527BAA5BE9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F122521-1D3A-6F53-E42B-8752079CC7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287DA8-5905-40A7-99E2-12B6B0631B85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8616435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D8AA71-2E28-27B6-DDBD-E22CF226C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252941C-BA66-02D0-16FB-038D7B45B5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989AE-4FB7-4B7D-93D5-B178C79D21E6}" type="datetimeFigureOut">
              <a:rPr lang="en-DK" smtClean="0"/>
              <a:t>11/11/2025</a:t>
            </a:fld>
            <a:endParaRPr lang="en-D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62BA80-B620-75A8-A499-8FF497F674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A53474-0952-9E3E-33AD-F3191FD5B6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287DA8-5905-40A7-99E2-12B6B0631B85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0796251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154A3F3-FE98-B1E2-925C-9FFEDBDF68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989AE-4FB7-4B7D-93D5-B178C79D21E6}" type="datetimeFigureOut">
              <a:rPr lang="en-DK" smtClean="0"/>
              <a:t>11/11/2025</a:t>
            </a:fld>
            <a:endParaRPr lang="en-D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41EE868-68DB-24CC-0FD2-5D99EEECF0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6F037D-CD03-E4D1-8E03-56EC31826E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287DA8-5905-40A7-99E2-12B6B0631B85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1502131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7AC7FA-68BA-339B-3EAD-19AFC6349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FDC6BC-5A21-5740-ED43-9A435939A6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8C9D92-F965-EE99-20CA-1046F7984B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72B29E-AFBE-13E2-8FF9-7436DAF639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989AE-4FB7-4B7D-93D5-B178C79D21E6}" type="datetimeFigureOut">
              <a:rPr lang="en-DK" smtClean="0"/>
              <a:t>11/11/2025</a:t>
            </a:fld>
            <a:endParaRPr lang="en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A20B0D-E579-55C4-9A33-43D539438F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A89FBC-3D39-CE26-0846-64E2DFED4C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287DA8-5905-40A7-99E2-12B6B0631B85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1516901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A3B1DC-1DE8-60B4-0BBA-F3EF12DD45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1F8CEF2-09EC-7D1A-008F-83C546108B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D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69400A-849F-2638-E98A-23C7CC3C94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1DF2CA-330E-7F43-9691-28D27E80F4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989AE-4FB7-4B7D-93D5-B178C79D21E6}" type="datetimeFigureOut">
              <a:rPr lang="en-DK" smtClean="0"/>
              <a:t>11/11/2025</a:t>
            </a:fld>
            <a:endParaRPr lang="en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BBDF9E-7185-94B0-2422-A1B714C275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27D80C-AC6B-B635-4062-A3D2C58B4D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287DA8-5905-40A7-99E2-12B6B0631B85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4411723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D42134-CFDF-73D5-4446-5C13EDA69D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44462C-5505-DD2C-774B-5643E0BDE4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BBEB02-14D3-E028-93C1-1F20E71DE1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989AE-4FB7-4B7D-93D5-B178C79D21E6}" type="datetimeFigureOut">
              <a:rPr lang="en-DK" smtClean="0"/>
              <a:t>11/11/2025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CAA528-0AC9-E7E0-9998-C3C2788ED6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B5ACC3-0D0B-717B-F6A4-8B6353E867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287DA8-5905-40A7-99E2-12B6B0631B85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6533318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FDADB10-9A06-BCC1-F088-D8168F64E0F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1C0A45-6DEE-D891-74A4-35A930F389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9C0214-3711-8332-CF48-989476FEDC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989AE-4FB7-4B7D-93D5-B178C79D21E6}" type="datetimeFigureOut">
              <a:rPr lang="en-DK" smtClean="0"/>
              <a:t>11/11/2025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70B661-D0B9-39E5-1816-2CF5B5AA32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FAC4E4-3FF3-FE64-3A1D-E46A714DA1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287DA8-5905-40A7-99E2-12B6B0631B85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42322132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break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1C4A94B9-9E00-4DD6-BCD4-604645044CAD}"/>
              </a:ext>
            </a:extLst>
          </p:cNvPr>
          <p:cNvSpPr/>
          <p:nvPr userDrawn="1"/>
        </p:nvSpPr>
        <p:spPr>
          <a:xfrm>
            <a:off x="5017194" y="0"/>
            <a:ext cx="365760" cy="36576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839AA0F-90FD-444F-B618-EE6F4C1F122A}"/>
              </a:ext>
            </a:extLst>
          </p:cNvPr>
          <p:cNvSpPr/>
          <p:nvPr userDrawn="1"/>
        </p:nvSpPr>
        <p:spPr>
          <a:xfrm>
            <a:off x="4300452" y="0"/>
            <a:ext cx="365760" cy="36576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F35D740-BF58-4DAE-A85B-5EF9B6EE3615}"/>
              </a:ext>
            </a:extLst>
          </p:cNvPr>
          <p:cNvSpPr/>
          <p:nvPr userDrawn="1"/>
        </p:nvSpPr>
        <p:spPr>
          <a:xfrm>
            <a:off x="5375565" y="0"/>
            <a:ext cx="365760" cy="36576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7B3B2E1-FF09-40A7-993A-BFF59632C25C}"/>
              </a:ext>
            </a:extLst>
          </p:cNvPr>
          <p:cNvSpPr/>
          <p:nvPr userDrawn="1"/>
        </p:nvSpPr>
        <p:spPr>
          <a:xfrm>
            <a:off x="3583710" y="0"/>
            <a:ext cx="365760" cy="36576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09981C2-BC8B-44CC-9A8B-A5B381264380}"/>
              </a:ext>
            </a:extLst>
          </p:cNvPr>
          <p:cNvSpPr/>
          <p:nvPr userDrawn="1"/>
        </p:nvSpPr>
        <p:spPr>
          <a:xfrm>
            <a:off x="2866968" y="0"/>
            <a:ext cx="365760" cy="36576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FFAAD0A-E8F9-47F8-874E-433E4C9A92AC}"/>
              </a:ext>
            </a:extLst>
          </p:cNvPr>
          <p:cNvSpPr/>
          <p:nvPr userDrawn="1"/>
        </p:nvSpPr>
        <p:spPr>
          <a:xfrm>
            <a:off x="2150226" y="0"/>
            <a:ext cx="365760" cy="36576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871ABB2-3607-4850-A2E7-141BF30EA1E4}"/>
              </a:ext>
            </a:extLst>
          </p:cNvPr>
          <p:cNvSpPr/>
          <p:nvPr userDrawn="1"/>
        </p:nvSpPr>
        <p:spPr>
          <a:xfrm>
            <a:off x="3225339" y="0"/>
            <a:ext cx="365760" cy="3657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AFBB6AA-DB66-48A4-BBD2-9B36C02E5371}"/>
              </a:ext>
            </a:extLst>
          </p:cNvPr>
          <p:cNvSpPr/>
          <p:nvPr userDrawn="1"/>
        </p:nvSpPr>
        <p:spPr>
          <a:xfrm>
            <a:off x="1791855" y="0"/>
            <a:ext cx="365760" cy="36576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09AC868-5C63-419B-8791-593862E707C6}"/>
              </a:ext>
            </a:extLst>
          </p:cNvPr>
          <p:cNvSpPr/>
          <p:nvPr userDrawn="1"/>
        </p:nvSpPr>
        <p:spPr>
          <a:xfrm>
            <a:off x="1433484" y="0"/>
            <a:ext cx="365760" cy="3657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136AF71-D03B-4190-8590-1688288FB9F2}"/>
              </a:ext>
            </a:extLst>
          </p:cNvPr>
          <p:cNvSpPr/>
          <p:nvPr userDrawn="1"/>
        </p:nvSpPr>
        <p:spPr>
          <a:xfrm>
            <a:off x="6092307" y="0"/>
            <a:ext cx="365760" cy="36576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DA6CEDE-A238-4C3A-B315-B3D3081EC7CC}"/>
              </a:ext>
            </a:extLst>
          </p:cNvPr>
          <p:cNvSpPr/>
          <p:nvPr userDrawn="1"/>
        </p:nvSpPr>
        <p:spPr>
          <a:xfrm>
            <a:off x="358371" y="0"/>
            <a:ext cx="365760" cy="3657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4ACE100-6140-4208-8CE9-DFE45B35007E}"/>
              </a:ext>
            </a:extLst>
          </p:cNvPr>
          <p:cNvSpPr/>
          <p:nvPr userDrawn="1"/>
        </p:nvSpPr>
        <p:spPr>
          <a:xfrm>
            <a:off x="4658823" y="0"/>
            <a:ext cx="365760" cy="3657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675F84B-6DC9-4492-A492-95E4ABEF1B78}"/>
              </a:ext>
            </a:extLst>
          </p:cNvPr>
          <p:cNvSpPr/>
          <p:nvPr userDrawn="1"/>
        </p:nvSpPr>
        <p:spPr>
          <a:xfrm>
            <a:off x="1075113" y="0"/>
            <a:ext cx="365760" cy="36576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DA788D4C-E960-45E8-ABC4-72FC2128647B}"/>
              </a:ext>
            </a:extLst>
          </p:cNvPr>
          <p:cNvSpPr/>
          <p:nvPr userDrawn="1"/>
        </p:nvSpPr>
        <p:spPr>
          <a:xfrm>
            <a:off x="2508597" y="0"/>
            <a:ext cx="365760" cy="3657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728D71AB-A26E-43A9-B413-A59CFBCDD9B1}"/>
              </a:ext>
            </a:extLst>
          </p:cNvPr>
          <p:cNvSpPr/>
          <p:nvPr userDrawn="1"/>
        </p:nvSpPr>
        <p:spPr>
          <a:xfrm>
            <a:off x="716742" y="0"/>
            <a:ext cx="365760" cy="36576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171E9C91-A1C1-432A-9523-A511B304162F}"/>
              </a:ext>
            </a:extLst>
          </p:cNvPr>
          <p:cNvSpPr/>
          <p:nvPr userDrawn="1"/>
        </p:nvSpPr>
        <p:spPr>
          <a:xfrm>
            <a:off x="0" y="0"/>
            <a:ext cx="365760" cy="36576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A1D3C8E1-8F58-4916-9097-718454DAC9FC}"/>
              </a:ext>
            </a:extLst>
          </p:cNvPr>
          <p:cNvSpPr/>
          <p:nvPr userDrawn="1"/>
        </p:nvSpPr>
        <p:spPr>
          <a:xfrm>
            <a:off x="5733936" y="0"/>
            <a:ext cx="365760" cy="3657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F1465436-7CD8-4713-84B2-BE392283D713}"/>
              </a:ext>
            </a:extLst>
          </p:cNvPr>
          <p:cNvSpPr/>
          <p:nvPr userDrawn="1"/>
        </p:nvSpPr>
        <p:spPr>
          <a:xfrm>
            <a:off x="3942081" y="0"/>
            <a:ext cx="365760" cy="36576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054BFDB3-CC2F-4666-9557-90812A8E5147}"/>
              </a:ext>
            </a:extLst>
          </p:cNvPr>
          <p:cNvSpPr/>
          <p:nvPr userDrawn="1"/>
        </p:nvSpPr>
        <p:spPr>
          <a:xfrm>
            <a:off x="11467872" y="0"/>
            <a:ext cx="365760" cy="36576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6DD356C3-53D1-4AF1-B3FD-AEEFF75FDB5C}"/>
              </a:ext>
            </a:extLst>
          </p:cNvPr>
          <p:cNvSpPr/>
          <p:nvPr userDrawn="1"/>
        </p:nvSpPr>
        <p:spPr>
          <a:xfrm>
            <a:off x="10751130" y="0"/>
            <a:ext cx="365760" cy="36576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08C89E7C-AF7A-4E82-B01B-1A945C7BBF79}"/>
              </a:ext>
            </a:extLst>
          </p:cNvPr>
          <p:cNvSpPr/>
          <p:nvPr userDrawn="1"/>
        </p:nvSpPr>
        <p:spPr>
          <a:xfrm>
            <a:off x="11826240" y="0"/>
            <a:ext cx="365760" cy="36576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4605B19F-DE4A-4705-A964-0579015AED0E}"/>
              </a:ext>
            </a:extLst>
          </p:cNvPr>
          <p:cNvSpPr/>
          <p:nvPr userDrawn="1"/>
        </p:nvSpPr>
        <p:spPr>
          <a:xfrm>
            <a:off x="10034388" y="0"/>
            <a:ext cx="365760" cy="36576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4D299157-3482-4535-BECD-566EFFF308AD}"/>
              </a:ext>
            </a:extLst>
          </p:cNvPr>
          <p:cNvSpPr/>
          <p:nvPr userDrawn="1"/>
        </p:nvSpPr>
        <p:spPr>
          <a:xfrm>
            <a:off x="9317646" y="0"/>
            <a:ext cx="365760" cy="36576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EC8CCBF5-CCDC-43C9-B57D-B9DAE23B58BE}"/>
              </a:ext>
            </a:extLst>
          </p:cNvPr>
          <p:cNvSpPr/>
          <p:nvPr userDrawn="1"/>
        </p:nvSpPr>
        <p:spPr>
          <a:xfrm>
            <a:off x="8600904" y="0"/>
            <a:ext cx="365760" cy="36576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F412D896-790A-420A-BBFB-AFDB7BD9B603}"/>
              </a:ext>
            </a:extLst>
          </p:cNvPr>
          <p:cNvSpPr/>
          <p:nvPr userDrawn="1"/>
        </p:nvSpPr>
        <p:spPr>
          <a:xfrm>
            <a:off x="9676017" y="0"/>
            <a:ext cx="365760" cy="3657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95941E70-EE67-4F80-B753-2F6426D0A9DA}"/>
              </a:ext>
            </a:extLst>
          </p:cNvPr>
          <p:cNvSpPr/>
          <p:nvPr userDrawn="1"/>
        </p:nvSpPr>
        <p:spPr>
          <a:xfrm>
            <a:off x="8242533" y="0"/>
            <a:ext cx="365760" cy="36576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6751E552-2222-4200-8E39-4DF2BEB677FD}"/>
              </a:ext>
            </a:extLst>
          </p:cNvPr>
          <p:cNvSpPr/>
          <p:nvPr userDrawn="1"/>
        </p:nvSpPr>
        <p:spPr>
          <a:xfrm>
            <a:off x="7884162" y="0"/>
            <a:ext cx="365760" cy="3657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B43002CA-9883-43A9-B000-00F9F7A14D27}"/>
              </a:ext>
            </a:extLst>
          </p:cNvPr>
          <p:cNvSpPr/>
          <p:nvPr userDrawn="1"/>
        </p:nvSpPr>
        <p:spPr>
          <a:xfrm>
            <a:off x="6809049" y="0"/>
            <a:ext cx="365760" cy="3657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861A1E0B-5D8C-42BB-8493-4A6E267A7C73}"/>
              </a:ext>
            </a:extLst>
          </p:cNvPr>
          <p:cNvSpPr/>
          <p:nvPr userDrawn="1"/>
        </p:nvSpPr>
        <p:spPr>
          <a:xfrm>
            <a:off x="11109501" y="0"/>
            <a:ext cx="365760" cy="3657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51E86EA3-C77E-4F5B-B2D8-06ACD07DECA4}"/>
              </a:ext>
            </a:extLst>
          </p:cNvPr>
          <p:cNvSpPr/>
          <p:nvPr userDrawn="1"/>
        </p:nvSpPr>
        <p:spPr>
          <a:xfrm>
            <a:off x="7525791" y="0"/>
            <a:ext cx="365760" cy="36576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5DD0E5EA-DA68-48FA-984B-26F2185EF431}"/>
              </a:ext>
            </a:extLst>
          </p:cNvPr>
          <p:cNvSpPr/>
          <p:nvPr userDrawn="1"/>
        </p:nvSpPr>
        <p:spPr>
          <a:xfrm>
            <a:off x="8959275" y="0"/>
            <a:ext cx="365760" cy="3657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B1E5F851-80EC-44A1-B97A-D40F00A63A11}"/>
              </a:ext>
            </a:extLst>
          </p:cNvPr>
          <p:cNvSpPr/>
          <p:nvPr userDrawn="1"/>
        </p:nvSpPr>
        <p:spPr>
          <a:xfrm>
            <a:off x="7167420" y="0"/>
            <a:ext cx="365760" cy="36576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006D6FCB-D2DE-4100-B034-4F158AA21763}"/>
              </a:ext>
            </a:extLst>
          </p:cNvPr>
          <p:cNvSpPr/>
          <p:nvPr userDrawn="1"/>
        </p:nvSpPr>
        <p:spPr>
          <a:xfrm>
            <a:off x="6450678" y="0"/>
            <a:ext cx="365760" cy="36576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293C2CDE-BD78-4521-A433-7332BF3D57FA}"/>
              </a:ext>
            </a:extLst>
          </p:cNvPr>
          <p:cNvSpPr/>
          <p:nvPr userDrawn="1"/>
        </p:nvSpPr>
        <p:spPr>
          <a:xfrm>
            <a:off x="10392759" y="0"/>
            <a:ext cx="365760" cy="3657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06667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02039F2-F5D0-2234-3A09-9E78A711EB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67F629-F722-7760-849E-5968FEFA7A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05A366-A7BD-03C2-C1A7-DBADCB7E65F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60989AE-4FB7-4B7D-93D5-B178C79D21E6}" type="datetimeFigureOut">
              <a:rPr lang="en-DK" smtClean="0"/>
              <a:t>11/11/2025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B391D7-2B3F-2903-5D7C-B30636DAFE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D96882-9E64-682E-A82A-EDF623D77B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3287DA8-5905-40A7-99E2-12B6B0631B85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5680622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2FD85FE-3484-FD3A-6FBD-9B5C351C21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1145A5A-FD6F-88F7-53A6-7CDBE30714B2}"/>
                  </a:ext>
                </a:extLst>
              </p:cNvPr>
              <p:cNvSpPr txBox="1"/>
              <p:nvPr/>
            </p:nvSpPr>
            <p:spPr>
              <a:xfrm>
                <a:off x="143837" y="392408"/>
                <a:ext cx="11322121" cy="36933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Indicies: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𝑝𝑎𝑐𝑘𝑖𝑛𝑔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𝑜𝑟𝑑𝑒𝑟𝑠</m:t>
                    </m:r>
                  </m:oMath>
                </a14:m>
                <a:endParaRPr lang="en-US" b="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𝑙𝑖𝑛𝑒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𝑛𝑢𝑚𝑏𝑒𝑟𝑠</m:t>
                    </m:r>
                  </m:oMath>
                </a14:m>
                <a:endParaRPr lang="en-US" b="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𝑡𝑖𝑚𝑒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𝑠𝑙𝑜𝑡𝑠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𝑔𝑖𝑣𝑒𝑛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𝑡𝑒𝑟𝑚𝑠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𝑜𝑓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𝑏𝑎𝑠𝑒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𝑡𝑖𝑚𝑒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𝑖𝑛𝑡𝑒𝑟𝑣𝑎𝑙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 15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𝑚𝑖𝑛𝑢𝑡𝑒𝑠</m:t>
                    </m:r>
                  </m:oMath>
                </a14:m>
                <a:endParaRPr lang="en-US" dirty="0"/>
              </a:p>
              <a:p>
                <a:r>
                  <a:rPr lang="en-US" dirty="0"/>
                  <a:t>Decision Variables: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𝑝𝑎𝑐𝑘𝑖𝑛𝑔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𝑜𝑟𝑑𝑒𝑟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𝑠𝑡𝑎𝑟𝑡𝑠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𝑜𝑛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𝑙𝑖𝑛𝑒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𝑡𝑖𝑚𝑒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/>
                  <a:t> (binary)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𝑠𝑒𝑡𝑢𝑝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𝑏𝑒𝑡𝑤𝑒𝑒𝑛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𝑜𝑟𝑑𝑒𝑟𝑠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𝑎𝑛𝑑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𝑜𝑛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𝑙𝑖𝑛𝑒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dirty="0"/>
                  <a:t> (binary)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𝑏𝑎𝑡𝑐h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𝑖𝑛𝑑𝑖𝑐𝑎𝑡𝑜𝑟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𝑜𝑟𝑑𝑒𝑟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𝑎𝑛𝑑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𝑏𝑎𝑡𝑐h𝑒𝑑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𝑡𝑜𝑔𝑒𝑡h𝑒𝑟</m:t>
                    </m:r>
                  </m:oMath>
                </a14:m>
                <a:r>
                  <a:rPr lang="en-US" dirty="0"/>
                  <a:t> (binary)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𝑝𝑟𝑜𝑑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𝑛𝑢𝑚𝑏𝑒𝑟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𝑜𝑓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𝑢𝑛𝑖𝑡𝑠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𝑝𝑟𝑜𝑑𝑢𝑐𝑒𝑑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𝑡𝑖𝑚𝑒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/>
                  <a:t> (positive integer) </a:t>
                </a:r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𝑙𝑖𝑛𝑒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𝑢𝑠𝑒</m:t>
                    </m:r>
                  </m:oMath>
                </a14:m>
                <a:r>
                  <a:rPr lang="en-US" dirty="0"/>
                  <a:t> (binary)</a:t>
                </a:r>
              </a:p>
              <a:p>
                <a:r>
                  <a:rPr lang="en-US" dirty="0"/>
                  <a:t>Decision Variables (OTIF tracking)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𝑙𝑎𝑡𝑒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≔</m:t>
                    </m:r>
                  </m:oMath>
                </a14:m>
                <a:r>
                  <a:rPr lang="en-US" dirty="0"/>
                  <a:t> (binary)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𝑎𝑡𝑒𝑛𝑒𝑠𝑠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≔</m:t>
                    </m:r>
                  </m:oMath>
                </a14:m>
                <a:r>
                  <a:rPr lang="en-US" dirty="0"/>
                  <a:t> (positive integer)</a:t>
                </a: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1145A5A-FD6F-88F7-53A6-7CDBE30714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837" y="392408"/>
                <a:ext cx="11322121" cy="3693319"/>
              </a:xfrm>
              <a:prstGeom prst="rect">
                <a:avLst/>
              </a:prstGeom>
              <a:blipFill>
                <a:blip r:embed="rId2"/>
                <a:stretch>
                  <a:fillRect l="-485" t="-660" b="-1815"/>
                </a:stretch>
              </a:blipFill>
            </p:spPr>
            <p:txBody>
              <a:bodyPr/>
              <a:lstStyle/>
              <a:p>
                <a:r>
                  <a:rPr lang="en-D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749961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D5955DE-95E0-C21D-C847-9EE0A554A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EF87D7D-1EC8-05EC-CD5D-0698CE239644}"/>
                  </a:ext>
                </a:extLst>
              </p:cNvPr>
              <p:cNvSpPr txBox="1"/>
              <p:nvPr/>
            </p:nvSpPr>
            <p:spPr>
              <a:xfrm>
                <a:off x="174659" y="382134"/>
                <a:ext cx="11322121" cy="56973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Decision Variables (Workforce tracking)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𝑤𝑜𝑟𝑘𝑒𝑟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𝑢𝑠𝑒𝑑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𝑡𝑜𝑡𝑎𝑙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𝑤𝑜𝑟𝑘𝑒𝑟𝑠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𝑎𝑐𝑡𝑢𝑎𝑙𝑙𝑦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𝑤𝑜𝑟𝑘𝑖𝑛𝑔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𝑡𝑖𝑚𝑒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/>
                  <a:t> (integer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[0,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/>
                  <a:t> 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w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orkers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max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𝑚𝑎𝑥𝑖𝑚𝑎𝑙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𝑤𝑜𝑟𝑘𝑒𝑟𝑠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𝑢𝑠𝑒𝑑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𝑎𝑛𝑦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𝑡𝑖𝑚𝑒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𝑠𝑙𝑜𝑡</m:t>
                    </m:r>
                  </m:oMath>
                </a14:m>
                <a:r>
                  <a:rPr lang="en-US" dirty="0"/>
                  <a:t>  (integer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[0,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/>
                  <a:t> 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workers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m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𝑖𝑛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𝑚𝑖𝑛𝑖𝑚𝑢𝑚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𝑤𝑜𝑟𝑘𝑒𝑟𝑠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𝑢𝑠𝑒𝑑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𝑖𝑛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𝑎𝑛𝑦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𝑡𝑖𝑚𝑒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𝑠𝑙𝑜𝑡</m:t>
                    </m:r>
                  </m:oMath>
                </a14:m>
                <a:r>
                  <a:rPr lang="en-US" dirty="0"/>
                  <a:t>  (integer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[0,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/>
                  <a:t> )</a:t>
                </a:r>
              </a:p>
              <a:p>
                <a:r>
                  <a:rPr lang="en-US" dirty="0"/>
                  <a:t>Decision Variables (WIP tracking)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𝑖𝑛𝑣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≔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𝑛𝑢𝑚𝑏𝑒𝑟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𝑜𝑓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𝑝𝑎𝑐𝑘𝑖𝑛𝑔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𝑜𝑟𝑑𝑒𝑟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𝑖𝑛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𝑠𝑡𝑜𝑐𝑘</m:t>
                    </m:r>
                  </m:oMath>
                </a14:m>
                <a:r>
                  <a:rPr lang="en-US" dirty="0"/>
                  <a:t> (positive integer)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𝑠h𝑖𝑝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≔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𝑝𝑎𝑐𝑘𝑖𝑛𝑔</m:t>
                    </m:r>
                  </m:oMath>
                </a14:m>
                <a:r>
                  <a:rPr lang="en-US" i="1" dirty="0">
                    <a:latin typeface="Cambria Math" panose="02040503050406030204" pitchFamily="18" charset="0"/>
                  </a:rPr>
                  <a:t> order </a:t>
                </a:r>
                <a:r>
                  <a:rPr lang="en-US" i="1" dirty="0" err="1">
                    <a:latin typeface="Cambria Math" panose="02040503050406030204" pitchFamily="18" charset="0"/>
                  </a:rPr>
                  <a:t>i</a:t>
                </a:r>
                <a:r>
                  <a:rPr lang="en-US" i="1" dirty="0">
                    <a:latin typeface="Cambria Math" panose="02040503050406030204" pitchFamily="18" charset="0"/>
                  </a:rPr>
                  <a:t> is shipped at time t  </a:t>
                </a:r>
                <a:r>
                  <a:rPr lang="en-US" dirty="0">
                    <a:latin typeface="Cambria Math" panose="02040503050406030204" pitchFamily="18" charset="0"/>
                  </a:rPr>
                  <a:t>(binary)</a:t>
                </a:r>
                <a:endParaRPr lang="en-US" i="1" dirty="0">
                  <a:latin typeface="Cambria Math" panose="020405030504060302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𝑡𝑖𝑚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𝑠h𝑖𝑝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≔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𝑡𝑖𝑚𝑒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𝑠𝑙𝑜𝑡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𝑤h𝑒𝑛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𝑜𝑟𝑑𝑒𝑟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𝑖𝑠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𝑠h𝑖𝑝𝑝𝑒𝑑</m:t>
                    </m:r>
                  </m:oMath>
                </a14:m>
                <a:r>
                  <a:rPr lang="en-US" dirty="0"/>
                  <a:t>(integer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[0,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/>
                  <a:t>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h𝑎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𝑖𝑛𝑣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≔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𝑜𝑟𝑑𝑒𝑟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h𝑎𝑠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𝑎𝑣𝑎𝑖𝑙𝑎𝑏𝑙𝑒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𝑖𝑛𝑣𝑒𝑛𝑡𝑜𝑟𝑦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𝑎𝑡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𝑡𝑖𝑚𝑒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/>
                  <a:t> (binary)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𝑡𝑖𝑚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𝑠𝑡𝑎𝑟𝑡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𝑎𝑐𝑡𝑢𝑎𝑙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𝑠𝑡𝑎𝑟𝑡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𝑡𝑖𝑚𝑒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𝑓𝑜𝑟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𝑝𝑎𝑐𝑘𝑖𝑛𝑔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𝑜𝑟𝑑𝑒𝑟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 (integer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/>
                  <a:t> 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𝑡𝑖𝑚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𝑐𝑜𝑚𝑝𝑙𝑒𝑡𝑖𝑜𝑛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≔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𝑎𝑐𝑡𝑢𝑎𝑙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𝑐𝑜𝑚𝑝𝑙𝑒𝑡𝑖𝑜𝑛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𝑡𝑖𝑚𝑒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𝑓𝑜𝑟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𝑝𝑎𝑐𝑘𝑖𝑛𝑔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𝑜𝑟𝑑𝑒𝑟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 (integer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[1,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/>
                  <a:t> 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𝑡𝑖𝑚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𝑓𝑙𝑜𝑤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𝑡𝑖𝑚𝑒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𝑓𝑟𝑜𝑚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𝑠𝑡𝑎𝑟𝑡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𝑡𝑜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𝑐𝑜𝑚𝑝𝑙𝑒𝑡𝑖𝑜𝑛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𝑓𝑜𝑟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𝑝𝑎𝑐𝑘𝑖𝑛𝑔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𝑜𝑟𝑑𝑒𝑟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 (non-negative integer)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EF87D7D-1EC8-05EC-CD5D-0698CE2396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4659" y="382134"/>
                <a:ext cx="11322121" cy="5697394"/>
              </a:xfrm>
              <a:prstGeom prst="rect">
                <a:avLst/>
              </a:prstGeom>
              <a:blipFill>
                <a:blip r:embed="rId2"/>
                <a:stretch>
                  <a:fillRect l="-485" t="-535"/>
                </a:stretch>
              </a:blipFill>
            </p:spPr>
            <p:txBody>
              <a:bodyPr/>
              <a:lstStyle/>
              <a:p>
                <a:r>
                  <a:rPr lang="en-D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075048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8906E1D-15A5-92BA-EDC0-CC6BB03F7B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F72317F-B68B-C748-D4E5-3C9D1657B35E}"/>
                  </a:ext>
                </a:extLst>
              </p:cNvPr>
              <p:cNvSpPr txBox="1"/>
              <p:nvPr/>
            </p:nvSpPr>
            <p:spPr>
              <a:xfrm>
                <a:off x="143837" y="392408"/>
                <a:ext cx="11322121" cy="25853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Input parameters: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𝑝𝑟𝑜𝑐𝑒𝑠𝑠𝑖𝑛𝑔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𝑡𝑖𝑚𝑒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𝑓𝑜𝑟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𝑝𝑎𝑐𝑘𝑖𝑛𝑔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𝑜𝑟𝑑𝑒𝑟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𝑜𝑛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𝑙𝑖𝑛𝑒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dirty="0"/>
                  <a:t> (positive real, dividable by base time interval)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𝑠𝑒𝑡𝑢𝑝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𝑡𝑖𝑚𝑒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𝑓𝑜𝑟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𝑝𝑎𝑐𝑘𝑖𝑛𝑔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𝑜𝑟𝑑𝑒𝑟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𝑎𝑛𝑑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𝑜𝑛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𝑙𝑖𝑛𝑒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dirty="0"/>
                  <a:t> (positive real , dividable by base time interval)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𝑤𝑜𝑟𝑘𝑒𝑟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𝑎𝑣𝑎𝑖𝑙𝑎𝑏𝑙𝑒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𝑡𝑖𝑚𝑒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/>
                  <a:t> (binary)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𝑖𝑛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𝑖𝑛𝑖𝑡𝑖𝑎𝑙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𝑖𝑛𝑣𝑒𝑛𝑡𝑜𝑟𝑦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𝑠𝑡𝑜𝑐𝑘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𝑓𝑜𝑟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𝑝𝑎𝑐𝑘𝑖𝑛𝑔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𝑜𝑟𝑑𝑒𝑟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 (positive integer)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𝑟𝑒𝑠𝑒𝑟𝑣𝑒𝑑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𝑐𝑎𝑝𝑎𝑐𝑖𝑡𝑦</m:t>
                    </m:r>
                  </m:oMath>
                </a14:m>
                <a:r>
                  <a:rPr lang="en-US" dirty="0"/>
                  <a:t> (positive real less than 1)</a:t>
                </a:r>
              </a:p>
              <a:p>
                <a:r>
                  <a:rPr lang="en-US" dirty="0"/>
                  <a:t>Input parameters (OTIF):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𝑑𝑢𝑒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𝑑𝑢𝑒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𝑑𝑎𝑡𝑒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𝑓𝑜𝑟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𝑝𝑎𝑐𝑘𝑖𝑛𝑔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𝑜𝑟𝑑𝑒𝑟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 (integer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[1,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/>
                  <a:t>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𝑝𝑟𝑖𝑜𝑟𝑖𝑡𝑦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𝑝𝑟𝑖𝑜𝑟𝑖𝑡𝑦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𝑤𝑒𝑖𝑔h𝑡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𝑓𝑜𝑟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𝑜𝑟𝑑𝑒𝑟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 (positive integer, e.g.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[1,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100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/>
                  <a:t>)</a:t>
                </a: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F72317F-B68B-C748-D4E5-3C9D1657B3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837" y="392408"/>
                <a:ext cx="11322121" cy="2585323"/>
              </a:xfrm>
              <a:prstGeom prst="rect">
                <a:avLst/>
              </a:prstGeom>
              <a:blipFill>
                <a:blip r:embed="rId2"/>
                <a:stretch>
                  <a:fillRect l="-485" t="-943" b="-3066"/>
                </a:stretch>
              </a:blipFill>
            </p:spPr>
            <p:txBody>
              <a:bodyPr/>
              <a:lstStyle/>
              <a:p>
                <a:r>
                  <a:rPr lang="en-D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589390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6616B86-BA30-2192-9F58-FCC5413BB6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ubtitle 2">
            <a:extLst>
              <a:ext uri="{FF2B5EF4-FFF2-40B4-BE49-F238E27FC236}">
                <a16:creationId xmlns:a16="http://schemas.microsoft.com/office/drawing/2014/main" id="{DC5C6173-2F66-44D3-FBD1-C8C60BD37D2D}"/>
              </a:ext>
            </a:extLst>
          </p:cNvPr>
          <p:cNvSpPr txBox="1">
            <a:spLocks/>
          </p:cNvSpPr>
          <p:nvPr/>
        </p:nvSpPr>
        <p:spPr>
          <a:xfrm>
            <a:off x="-1" y="388620"/>
            <a:ext cx="7787811" cy="58293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3600" dirty="0"/>
              <a:t>Constraints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DD01064-6319-E30C-2392-7A7B2F8A128C}"/>
                  </a:ext>
                </a:extLst>
              </p:cNvPr>
              <p:cNvSpPr txBox="1"/>
              <p:nvPr/>
            </p:nvSpPr>
            <p:spPr>
              <a:xfrm>
                <a:off x="184933" y="817438"/>
                <a:ext cx="8558373" cy="33574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One assignment: Each order assigned to only one line, one time</a:t>
                </a:r>
                <a:br>
                  <a:rPr lang="en-US" dirty="0"/>
                </a:b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/>
                      <m:e>
                        <m:nary>
                          <m:naryPr>
                            <m:chr m:val="∑"/>
                            <m:supHide m:val="on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7"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  <m:sup/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nary>
                      </m:e>
                    </m:nary>
                    <m:r>
                      <a:rPr lang="en-US" b="0" i="1" smtClean="0">
                        <a:latin typeface="Cambria Math" panose="02040503050406030204" pitchFamily="18" charset="0"/>
                      </a:rPr>
                      <m:t>=1   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US" b="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Line capacity: No overlap of order on the same line</a:t>
                </a:r>
                <a:br>
                  <a:rPr lang="en-US" dirty="0"/>
                </a:b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nary>
                          <m:naryPr>
                            <m:chr m:val="∑"/>
                            <m:supHide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7"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≤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𝜏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&lt;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e>
                            </m:d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nary>
                              <m:naryPr>
                                <m:chr m:val="∑"/>
                                <m:supHide m:val="on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7"/>
                                  </m:rPr>
                                  <a:rPr lang="en-US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  <m:sup/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e>
                                </m:d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e>
                                </m:d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∗(1−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))</m:t>
                                </m:r>
                              </m:e>
                            </m:nary>
                          </m:sub>
                          <m:sup/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nary>
                      </m:e>
                    </m:nary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   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𝜏</m:t>
                    </m:r>
                  </m:oMath>
                </a14:m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Reserved line capacity</a:t>
                </a:r>
                <a:br>
                  <a:rPr lang="en-US" dirty="0"/>
                </a:b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nary>
                          <m:naryPr>
                            <m:chr m:val="∑"/>
                            <m:supHide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  <m:sup/>
                          <m:e>
                            <m:nary>
                              <m:naryPr>
                                <m:chr m:val="∑"/>
                                <m:supHide m:val="on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𝜏</m:t>
                                </m:r>
                              </m:sub>
                              <m:sup/>
                              <m:e>
                                <m:nary>
                                  <m:naryPr>
                                    <m:chr m:val="∑"/>
                                    <m:supHide m:val="on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≤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𝜏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&lt;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  <m:d>
                                      <m:d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</m:e>
                                    </m:d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nary>
                                      <m:naryPr>
                                        <m:chr m:val="∑"/>
                                        <m:supHide m:val="on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naryPr>
                                      <m:sub>
                                        <m:r>
                                          <m:rPr>
                                            <m:brk m:alnAt="7"/>
                                          </m:r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sub>
                                      <m:sup/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  <m:d>
                                          <m:dPr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,</m:t>
                                            </m:r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𝑘</m:t>
                                            </m:r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,</m:t>
                                            </m:r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𝑗</m:t>
                                            </m:r>
                                          </m:e>
                                        </m:d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∗</m:t>
                                        </m:r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  <m:d>
                                          <m:dPr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,</m:t>
                                            </m:r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𝑘</m:t>
                                            </m:r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,</m:t>
                                            </m:r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𝑗</m:t>
                                            </m:r>
                                          </m:e>
                                        </m:d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∗(1−</m:t>
                                        </m:r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(</m:t>
                                        </m:r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))</m:t>
                                        </m:r>
                                      </m:e>
                                    </m:nary>
                                  </m:sub>
                                  <m:sup/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nary>
                              </m:e>
                            </m:nary>
                          </m:e>
                        </m:nary>
                      </m:e>
                    </m:nary>
                    <m:r>
                      <a:rPr lang="en-US" i="1">
                        <a:latin typeface="Cambria Math" panose="02040503050406030204" pitchFamily="18" charset="0"/>
                      </a:rPr>
                      <m:t>&lt;(1−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)∗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DD01064-6319-E30C-2392-7A7B2F8A12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933" y="817438"/>
                <a:ext cx="8558373" cy="3357458"/>
              </a:xfrm>
              <a:prstGeom prst="rect">
                <a:avLst/>
              </a:prstGeom>
              <a:blipFill>
                <a:blip r:embed="rId2"/>
                <a:stretch>
                  <a:fillRect l="-427" t="-726"/>
                </a:stretch>
              </a:blipFill>
            </p:spPr>
            <p:txBody>
              <a:bodyPr/>
              <a:lstStyle/>
              <a:p>
                <a:r>
                  <a:rPr lang="en-D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792945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8D30F88-ACC0-B925-B26D-29A49D0C9D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ubtitle 2">
            <a:extLst>
              <a:ext uri="{FF2B5EF4-FFF2-40B4-BE49-F238E27FC236}">
                <a16:creationId xmlns:a16="http://schemas.microsoft.com/office/drawing/2014/main" id="{332F2FC8-780B-7A5B-171A-CA37EA5C29B1}"/>
              </a:ext>
            </a:extLst>
          </p:cNvPr>
          <p:cNvSpPr txBox="1">
            <a:spLocks/>
          </p:cNvSpPr>
          <p:nvPr/>
        </p:nvSpPr>
        <p:spPr>
          <a:xfrm>
            <a:off x="-1" y="388620"/>
            <a:ext cx="7787811" cy="58293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600" dirty="0"/>
              <a:t>Constraints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679CD34-DC52-3212-B13A-D8D72A5425BF}"/>
                  </a:ext>
                </a:extLst>
              </p:cNvPr>
              <p:cNvSpPr txBox="1"/>
              <p:nvPr/>
            </p:nvSpPr>
            <p:spPr>
              <a:xfrm>
                <a:off x="195208" y="971550"/>
                <a:ext cx="8989888" cy="29724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Line in use</a:t>
                </a:r>
                <a:br>
                  <a:rPr lang="en-US" dirty="0"/>
                </a:b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nary>
                          <m:naryPr>
                            <m:chr m:val="∑"/>
                            <m:supHide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7"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≤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𝜏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&lt;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e>
                            </m:d>
                          </m:sub>
                          <m:sup/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nary>
                      </m:e>
                    </m:nary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   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𝜏</m:t>
                    </m:r>
                  </m:oMath>
                </a14:m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Each order ships exactly once</a:t>
                </a:r>
                <a:br>
                  <a:rPr lang="en-US" dirty="0"/>
                </a:b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/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𝑠h𝑖𝑝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=1   ∀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nary>
                  </m:oMath>
                </a14:m>
                <a:endParaRPr lang="en-US" b="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Shipping time</a:t>
                </a:r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𝑡𝑖𝑚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𝑠h𝑖𝑝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/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𝑠h𝑖𝑝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   ∀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nary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679CD34-DC52-3212-B13A-D8D72A5425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208" y="971550"/>
                <a:ext cx="8989888" cy="2972417"/>
              </a:xfrm>
              <a:prstGeom prst="rect">
                <a:avLst/>
              </a:prstGeom>
              <a:blipFill>
                <a:blip r:embed="rId2"/>
                <a:stretch>
                  <a:fillRect l="-407" t="-820"/>
                </a:stretch>
              </a:blipFill>
            </p:spPr>
            <p:txBody>
              <a:bodyPr/>
              <a:lstStyle/>
              <a:p>
                <a:r>
                  <a:rPr lang="en-D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91235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AF28078-8248-75FE-CA26-A20350C914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ubtitle 2">
            <a:extLst>
              <a:ext uri="{FF2B5EF4-FFF2-40B4-BE49-F238E27FC236}">
                <a16:creationId xmlns:a16="http://schemas.microsoft.com/office/drawing/2014/main" id="{13AF1529-787B-5F45-D871-C4595748BE0B}"/>
              </a:ext>
            </a:extLst>
          </p:cNvPr>
          <p:cNvSpPr txBox="1">
            <a:spLocks/>
          </p:cNvSpPr>
          <p:nvPr/>
        </p:nvSpPr>
        <p:spPr>
          <a:xfrm>
            <a:off x="-1" y="388620"/>
            <a:ext cx="7787811" cy="58293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600" dirty="0"/>
              <a:t>Constraints (OTIF)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D9D2F41-C1EC-CAEC-38A0-4003889CCF21}"/>
                  </a:ext>
                </a:extLst>
              </p:cNvPr>
              <p:cNvSpPr txBox="1"/>
              <p:nvPr/>
            </p:nvSpPr>
            <p:spPr>
              <a:xfrm>
                <a:off x="184934" y="971550"/>
                <a:ext cx="8989888" cy="51629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Start time</a:t>
                </a:r>
                <a:br>
                  <a:rPr lang="en-US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time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start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/>
                      <m:e>
                        <m:nary>
                          <m:naryPr>
                            <m:chr m:val="∑"/>
                            <m:supHide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  <m:sup/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 ∗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   ∀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nary>
                      </m:e>
                    </m:nary>
                  </m:oMath>
                </a14:m>
                <a:endParaRPr lang="en-US" b="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Completion time</a:t>
                </a:r>
                <a:br>
                  <a:rPr lang="en-US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time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c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𝑜𝑚𝑝𝑙𝑒𝑡𝑒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/>
                      <m:e>
                        <m:nary>
                          <m:naryPr>
                            <m:chr m:val="∑"/>
                            <m:supHide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  <m:sup/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e>
                            </m:d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 ∗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   ∀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nary>
                      </m:e>
                    </m:nary>
                  </m:oMath>
                </a14:m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Lateness</a:t>
                </a:r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𝑙𝑎𝑡𝑒𝑛𝑒𝑠𝑠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𝑡𝑖𝑚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𝑐𝑜𝑚𝑝𝑙𝑒𝑡𝑒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𝑑𝑢𝑒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  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𝑙𝑎𝑡𝑒𝑛𝑒𝑠𝑠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≥0   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US" b="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Identify late orders (forces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𝑙𝑎𝑡𝑒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)=1</m:t>
                    </m:r>
                  </m:oMath>
                </a14:m>
                <a:r>
                  <a:rPr lang="en-US" dirty="0"/>
                  <a:t> if order is late)</a:t>
                </a:r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𝑙𝑎𝑡𝑒𝑛𝑒𝑠𝑠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𝑙𝑎𝑡𝑒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  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br>
                  <a:rPr lang="en-US" b="0" dirty="0"/>
                </a:b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𝑡𝑖𝑚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𝑐𝑜𝑚𝑝𝑙𝑒𝑡𝑒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𝑑𝑢𝑒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𝑙𝑎𝑡𝑒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  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D9D2F41-C1EC-CAEC-38A0-4003889CCF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934" y="971550"/>
                <a:ext cx="8989888" cy="5162952"/>
              </a:xfrm>
              <a:prstGeom prst="rect">
                <a:avLst/>
              </a:prstGeom>
              <a:blipFill>
                <a:blip r:embed="rId2"/>
                <a:stretch>
                  <a:fillRect l="-407" t="-472"/>
                </a:stretch>
              </a:blipFill>
            </p:spPr>
            <p:txBody>
              <a:bodyPr/>
              <a:lstStyle/>
              <a:p>
                <a:r>
                  <a:rPr lang="en-D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014798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353C9B9-5D5D-2CA5-5125-BC9F5C5DEE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ubtitle 2">
            <a:extLst>
              <a:ext uri="{FF2B5EF4-FFF2-40B4-BE49-F238E27FC236}">
                <a16:creationId xmlns:a16="http://schemas.microsoft.com/office/drawing/2014/main" id="{28E86123-E9C7-5066-7FDD-4E35F8156893}"/>
              </a:ext>
            </a:extLst>
          </p:cNvPr>
          <p:cNvSpPr txBox="1">
            <a:spLocks/>
          </p:cNvSpPr>
          <p:nvPr/>
        </p:nvSpPr>
        <p:spPr>
          <a:xfrm>
            <a:off x="-1" y="388620"/>
            <a:ext cx="7787811" cy="58293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600" dirty="0"/>
              <a:t>Constraints (Shipping)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092871F-B617-8C85-72D2-808780406CD0}"/>
                  </a:ext>
                </a:extLst>
              </p:cNvPr>
              <p:cNvSpPr txBox="1"/>
              <p:nvPr/>
            </p:nvSpPr>
            <p:spPr>
              <a:xfrm>
                <a:off x="184934" y="971550"/>
                <a:ext cx="8989888" cy="40273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Cannot ship before order complete</a:t>
                </a:r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𝑡𝑖𝑚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𝑠h𝑖𝑝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𝑡𝑖𝑚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𝑐𝑜𝑚𝑝𝑙𝑒𝑡𝑒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    ∀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Has inventory</a:t>
                </a:r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𝑖𝑛𝑣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𝑑𝑢𝑒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∗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h𝑎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𝑖𝑛𝑣</m:t>
                            </m:r>
                          </m:sub>
                        </m:sSub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 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br>
                  <a:rPr lang="en-US" b="0" dirty="0"/>
                </a:b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𝑖𝑛𝑣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h𝑎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𝑖𝑛𝑣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  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∀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Can only ship when inventory is sufficient</a:t>
                </a:r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𝑠h𝑖𝑝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h𝑎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𝑖𝑛𝑣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 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∀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CCF3445-FE60-A6C7-B485-DBB5A00ACA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934" y="971550"/>
                <a:ext cx="8989888" cy="4027385"/>
              </a:xfrm>
              <a:prstGeom prst="rect">
                <a:avLst/>
              </a:prstGeom>
              <a:blipFill>
                <a:blip r:embed="rId2"/>
                <a:stretch>
                  <a:fillRect l="-407"/>
                </a:stretch>
              </a:blipFill>
            </p:spPr>
            <p:txBody>
              <a:bodyPr/>
              <a:lstStyle/>
              <a:p>
                <a:r>
                  <a:rPr lang="en-D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290056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170061-7547-F327-C529-69EFBB0845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ubtitle 2">
            <a:extLst>
              <a:ext uri="{FF2B5EF4-FFF2-40B4-BE49-F238E27FC236}">
                <a16:creationId xmlns:a16="http://schemas.microsoft.com/office/drawing/2014/main" id="{96C9AFF8-5B72-2472-DDA3-52AA2E78C002}"/>
              </a:ext>
            </a:extLst>
          </p:cNvPr>
          <p:cNvSpPr txBox="1">
            <a:spLocks/>
          </p:cNvSpPr>
          <p:nvPr/>
        </p:nvSpPr>
        <p:spPr>
          <a:xfrm>
            <a:off x="-1" y="388620"/>
            <a:ext cx="7787811" cy="58293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600" dirty="0"/>
              <a:t>Constraints (WIP)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958AFE9-2C00-4330-81E7-AACD504092D6}"/>
                  </a:ext>
                </a:extLst>
              </p:cNvPr>
              <p:cNvSpPr txBox="1"/>
              <p:nvPr/>
            </p:nvSpPr>
            <p:spPr>
              <a:xfrm>
                <a:off x="184934" y="971550"/>
                <a:ext cx="8989888" cy="35880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Flow time</a:t>
                </a:r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𝑡𝑖𝑚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𝑓𝑙𝑜𝑤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𝑡𝑖𝑚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𝑠h𝑖𝑝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𝑡𝑖𝑚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𝑠𝑡𝑎𝑟𝑡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  ∀</m:t>
                    </m:r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</a:rPr>
                      <m:t>i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b="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Number of packing orders produced</a:t>
                </a:r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𝑝𝑟𝑜𝑑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/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))</m:t>
                        </m:r>
                      </m:e>
                    </m:nary>
                  </m:oMath>
                </a14:m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Inventory balance equation</a:t>
                </a:r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𝑖𝑛𝑣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𝑖𝑛𝑣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𝑝𝑟𝑜𝑑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𝑠h𝑖𝑝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   ∀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 ∀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𝑖𝑛𝑣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,0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𝑖𝑛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    ∀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958AFE9-2C00-4330-81E7-AACD504092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934" y="971550"/>
                <a:ext cx="8989888" cy="3588098"/>
              </a:xfrm>
              <a:prstGeom prst="rect">
                <a:avLst/>
              </a:prstGeom>
              <a:blipFill>
                <a:blip r:embed="rId2"/>
                <a:stretch>
                  <a:fillRect l="-407" t="-679"/>
                </a:stretch>
              </a:blipFill>
            </p:spPr>
            <p:txBody>
              <a:bodyPr/>
              <a:lstStyle/>
              <a:p>
                <a:r>
                  <a:rPr lang="en-D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593077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95F2AD6-C9F3-CE08-F277-F7E8E62F55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ubtitle 2">
            <a:extLst>
              <a:ext uri="{FF2B5EF4-FFF2-40B4-BE49-F238E27FC236}">
                <a16:creationId xmlns:a16="http://schemas.microsoft.com/office/drawing/2014/main" id="{9E3BFCDD-F1B9-AEDE-B6CF-952ECEED66DD}"/>
              </a:ext>
            </a:extLst>
          </p:cNvPr>
          <p:cNvSpPr txBox="1">
            <a:spLocks/>
          </p:cNvSpPr>
          <p:nvPr/>
        </p:nvSpPr>
        <p:spPr>
          <a:xfrm>
            <a:off x="-1" y="388620"/>
            <a:ext cx="7787811" cy="58293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600" dirty="0"/>
              <a:t>Constraints (Workforce)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FC01520-EEA5-254C-D929-68683E6F7BF8}"/>
                  </a:ext>
                </a:extLst>
              </p:cNvPr>
              <p:cNvSpPr txBox="1"/>
              <p:nvPr/>
            </p:nvSpPr>
            <p:spPr>
              <a:xfrm>
                <a:off x="205483" y="971550"/>
                <a:ext cx="8989888" cy="44074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Active workers per time slot</a:t>
                </a:r>
                <a:br>
                  <a:rPr lang="en-US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workers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used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nary>
                          <m:naryPr>
                            <m:chr m:val="∑"/>
                            <m:supHide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  <m:sup/>
                          <m:e>
                            <m:nary>
                              <m:naryPr>
                                <m:chr m:val="∑"/>
                                <m:supHide m:val="on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7"/>
                                  </m:rPr>
                                  <a:rPr lang="en-US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≤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𝜏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&lt;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e>
                                </m:d>
                              </m:sub>
                              <m:sup/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nary>
                          </m:e>
                        </m:nary>
                      </m:e>
                    </m:nary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b="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Maximum workforce</a:t>
                </a:r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𝑤𝑜𝑟𝑘𝑒𝑟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𝑚𝑎𝑥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𝑤𝑜𝑟𝑘𝑒𝑟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𝑢𝑠𝑒𝑑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  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Minium workforce</a:t>
                </a:r>
                <a:br>
                  <a:rPr lang="en-US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workers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used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t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𝑤𝑜𝑟𝑘𝑒𝑟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𝑚𝑖𝑛</m:t>
                        </m:r>
                      </m:sub>
                    </m:sSub>
                  </m:oMath>
                </a14:m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Workforce range</a:t>
                </a:r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𝑤𝑜𝑟𝑘𝑓𝑜𝑟𝑐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𝑟𝑎𝑛𝑔𝑒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workers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max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workers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min</m:t>
                        </m:r>
                      </m:sub>
                    </m:sSub>
                  </m:oMath>
                </a14:m>
                <a:endParaRPr lang="en-US" dirty="0"/>
              </a:p>
              <a:p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FC01520-EEA5-254C-D929-68683E6F7B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483" y="971550"/>
                <a:ext cx="8989888" cy="4407489"/>
              </a:xfrm>
              <a:prstGeom prst="rect">
                <a:avLst/>
              </a:prstGeom>
              <a:blipFill>
                <a:blip r:embed="rId2"/>
                <a:stretch>
                  <a:fillRect l="-475" t="-553"/>
                </a:stretch>
              </a:blipFill>
            </p:spPr>
            <p:txBody>
              <a:bodyPr/>
              <a:lstStyle/>
              <a:p>
                <a:r>
                  <a:rPr lang="en-D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272179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EAA2A71-FE89-1B73-DD83-F5AEF7F9A3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ubtitle 2">
            <a:extLst>
              <a:ext uri="{FF2B5EF4-FFF2-40B4-BE49-F238E27FC236}">
                <a16:creationId xmlns:a16="http://schemas.microsoft.com/office/drawing/2014/main" id="{F7190883-AF0B-983A-957E-A24861E1C1F6}"/>
              </a:ext>
            </a:extLst>
          </p:cNvPr>
          <p:cNvSpPr txBox="1">
            <a:spLocks/>
          </p:cNvSpPr>
          <p:nvPr/>
        </p:nvSpPr>
        <p:spPr>
          <a:xfrm>
            <a:off x="-1" y="388620"/>
            <a:ext cx="7787811" cy="58293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3600" dirty="0"/>
              <a:t>Objective function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F60C2A6D-B5FF-7C72-FDF6-5BE196295942}"/>
                  </a:ext>
                </a:extLst>
              </p:cNvPr>
              <p:cNvSpPr txBox="1"/>
              <p:nvPr/>
            </p:nvSpPr>
            <p:spPr>
              <a:xfrm>
                <a:off x="236306" y="868808"/>
                <a:ext cx="9277564" cy="46830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Minimization objective function: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𝑜𝑡𝑖𝑓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𝑤𝑖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𝑜𝑏𝑗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𝛾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𝑤𝑜𝑟𝑘𝑓𝑜𝑟𝑐𝑒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𝑡𝑜𝑡𝑎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𝑛𝑜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𝑢𝑡𝑖𝑙𝑖𝑧𝑒𝑑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where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OTIF term (heavy penalty for late order but also penalizes according to lateness)</a:t>
                </a:r>
                <a:br>
                  <a:rPr lang="en-US" dirty="0"/>
                </a:b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otif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𝑝𝑟𝑖𝑜𝑟𝑖𝑡𝑦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∗( 7 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𝑙𝑎𝑡𝑒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+3 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𝑙𝑎𝑡𝑒𝑛𝑒𝑠𝑠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))</m:t>
                        </m:r>
                      </m:e>
                    </m:nary>
                  </m:oMath>
                </a14:m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WIP term</a:t>
                </a:r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𝑤𝑖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𝑜𝑏𝑗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/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𝑖𝑛𝑣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</m:nary>
                  </m:oMath>
                </a14:m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Workforce term (reduces worker variance, deviations from target workforce and changes from one time instant to another)</a:t>
                </a:r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𝑤𝑜𝑟𝑘𝑓𝑜𝑟𝑐𝑒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𝑤𝑜𝑟𝑘𝑒𝑟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𝑟𝑎𝑛𝑔𝑒</m:t>
                        </m:r>
                      </m:sub>
                    </m:sSub>
                  </m:oMath>
                </a14:m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Number of lines fully utilized</a:t>
                </a:r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𝑡𝑜𝑡𝑎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𝑛𝑜𝑡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𝑢𝑡𝑖𝑙𝑖𝑧𝑒𝑑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/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F60C2A6D-B5FF-7C72-FDF6-5BE1962959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306" y="868808"/>
                <a:ext cx="9277564" cy="4683013"/>
              </a:xfrm>
              <a:prstGeom prst="rect">
                <a:avLst/>
              </a:prstGeom>
              <a:blipFill>
                <a:blip r:embed="rId2"/>
                <a:stretch>
                  <a:fillRect l="-591" t="-651"/>
                </a:stretch>
              </a:blipFill>
            </p:spPr>
            <p:txBody>
              <a:bodyPr/>
              <a:lstStyle/>
              <a:p>
                <a:r>
                  <a:rPr lang="en-D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21137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878</Words>
  <Application>Microsoft Office PowerPoint</Application>
  <PresentationFormat>Widescreen</PresentationFormat>
  <Paragraphs>88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Benny Lassen</dc:creator>
  <cp:lastModifiedBy>Benny Lassen</cp:lastModifiedBy>
  <cp:revision>1</cp:revision>
  <dcterms:created xsi:type="dcterms:W3CDTF">2025-11-11T09:57:42Z</dcterms:created>
  <dcterms:modified xsi:type="dcterms:W3CDTF">2025-11-11T09:58:29Z</dcterms:modified>
</cp:coreProperties>
</file>