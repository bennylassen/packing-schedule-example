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0" r:id="rId2"/>
    <p:sldId id="386" r:id="rId3"/>
    <p:sldId id="385" r:id="rId4"/>
    <p:sldId id="381" r:id="rId5"/>
    <p:sldId id="382" r:id="rId6"/>
    <p:sldId id="387" r:id="rId7"/>
    <p:sldId id="388" r:id="rId8"/>
    <p:sldId id="389" r:id="rId9"/>
    <p:sldId id="390" r:id="rId10"/>
    <p:sldId id="383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5341-E348-E25A-0DC2-11114CA30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AE9BF-4DEF-9388-41E0-8EFCCDFAD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8646-0857-3F40-3034-555EBFCC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35ED-FC92-8A37-CD34-6CC06C54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1A8A7-02A2-72BD-BFFB-AC07A7FE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177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015D-6E7F-706C-BDF1-D4C4FA33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C7175-577F-69F9-71AA-0202D4E4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F31B9-9516-D0D6-3494-8F8DB01A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9779C-62BF-F944-7D73-0ED8F085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F0FC6-812A-4CFD-92EC-C3389C61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71602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631F-8A3D-81EC-A8F1-B5A13D59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53F7-16F5-6885-B18D-5BC27CA4D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3EEB-580D-7D5B-918C-22714E68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447C-2B8D-7D18-0DED-68F9576E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76E08-6CC0-8D5A-7E72-2C32B1C6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2807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DF8C-F411-EE0B-9810-D396CE86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3323-971A-991B-0A78-1B4D56615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C47B-D1A0-7997-F9FA-F4C6E5719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9020C-9A19-86C7-2E86-40F0CF21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AF972-D964-A860-2E0E-C3A005B6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64816-0A01-231D-65AF-8160412A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037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E117-A89D-95CA-D806-92A45511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6D012-DA82-6767-9E6A-6FA16B095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73B52-76A7-5435-7DAC-96072E1A8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C409E-C29E-268C-9DC5-DF95A1746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EB9B3-7042-E6EA-906A-DF2744329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7A540-AC13-FA51-5965-98BAB305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C4F87-FAA2-42C1-B3FD-F488EC9B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C1512-AF79-E026-4273-87048E3D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1369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6071-19D5-06A1-2BC6-A2DD5000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15168-6731-76BD-964D-B0B1FB47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60DD2-B43A-43A0-B153-F731C3AF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52A16-F736-5C0E-D366-11895829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056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81A49-12BA-4FE0-D401-28F00CB6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3E824-A56D-AEDC-A807-B27F2D45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1B0A8-1BB4-F16F-DA4E-41F1A607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7239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8A61B-32BB-5119-7319-A4086518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FF29-822D-96E4-3C10-96C9BADB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C4532-8078-54AC-2F88-EC494EEF8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BB58F-51C3-F311-FE7C-D6BDAB4A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2F9A5-404A-5534-D1FA-4E67E537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E867-8D9F-4D37-2456-3CCE9337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282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4DB0-8AE2-9F4F-F7F9-904C7C0C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1BEE9-7095-E893-8B13-F85C6128F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DB90-E393-453A-5A0C-85A944601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F1812-C0AC-634E-1516-9C0CE2DA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0F519-6B60-F190-10F4-1DF0CEF7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0306A-BBA2-DC4E-C75B-93F0266B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279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9BEF-5DD9-0E89-C48E-3A542EE9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9E753-0DAF-7A19-938A-0C76C928D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CD80-C65A-7097-BE7A-FC84C660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04CC-F755-EFC8-8464-6E47103F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4698-CB01-414A-4410-C8BE7EEC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815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4777B-0DEB-172D-8EB1-0D8E16174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0E89F-8C1E-07D7-AF52-EC19A6C75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38F55-787C-6CC4-861F-9B3AC6DF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C8C24-144F-7D1C-5653-FA139D9A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CB6F-AB17-E8AD-D51C-48A3144F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48165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0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727CB-92EA-579E-8E07-544758B7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C787-6FAD-91F6-8580-15D27964E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B586D-6DB1-D768-EF9A-DD09B5233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71557-138B-43E4-BD69-DC0C2A31A113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E4020-5747-B22D-F41E-A87D630FC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F271C-A042-153F-1D60-974D10757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D2A1D-51C2-4B87-98CB-7B18DD12ED8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556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51717-A77D-2275-A772-529C920A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𝑏𝑒𝑡𝑤𝑒𝑒𝑛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𝑖𝑛𝑑𝑖𝑐𝑎𝑡𝑜𝑟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𝑡𝑜𝑔𝑒𝑡h𝑒𝑟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𝑑𝑢𝑟𝑖𝑛𝑔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𝑎𝑛𝑜𝑡h𝑒𝑟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𝑒𝑎𝑟𝑙𝑦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5355312"/>
              </a:xfrm>
              <a:prstGeom prst="rect">
                <a:avLst/>
              </a:prstGeom>
              <a:blipFill>
                <a:blip r:embed="rId2"/>
                <a:stretch>
                  <a:fillRect l="-485" t="-45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89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38535-0F2C-B820-DFB1-AE36788C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𝑏𝑒𝑙𝑜𝑤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𝑎𝑏𝑠𝑜𝑙𝑢𝑡𝑒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𝑐h𝑎𝑛𝑔𝑒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𝑖𝑛𝑑𝑖𝑐𝑎𝑡𝑜𝑟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𝑤𝑒𝑖𝑔h𝑡𝑒𝑑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𝑊𝐼𝑃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blipFill>
                <a:blip r:embed="rId2"/>
                <a:stretch>
                  <a:fillRect l="-485" t="-42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36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9C637-DBCD-970B-38BA-AF9A4BAD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715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𝑟𝑒𝑠𝑒𝑟𝑣𝑒𝑑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𝑐𝑎𝑝𝑎𝑐𝑖𝑡𝑦</m:t>
                    </m:r>
                  </m:oMath>
                </a14:m>
                <a:r>
                  <a:rPr lang="en-US" dirty="0"/>
                  <a:t> (positive real less than 1)</a:t>
                </a:r>
              </a:p>
              <a:p>
                <a:r>
                  <a:rPr lang="en-US" dirty="0"/>
                  <a:t>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𝑟𝑒𝑞𝑢𝑖𝑟𝑒𝑑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𝑞𝑢𝑎𝑛𝑡𝑖𝑡𝑦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Input parameters (Workforce):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𝑖𝑑𝑒𝑎𝑙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𝑠𝑡𝑒𝑎𝑑𝑦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𝑙𝑒𝑣𝑒𝑙</m:t>
                    </m:r>
                  </m:oMath>
                </a14:m>
                <a:r>
                  <a:rPr lang="en-US" dirty="0"/>
                  <a:t> (positive integer)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715889"/>
              </a:xfrm>
              <a:prstGeom prst="rect">
                <a:avLst/>
              </a:prstGeom>
              <a:blipFill>
                <a:blip r:embed="rId2"/>
                <a:stretch>
                  <a:fillRect l="-485" t="-656" b="-1311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72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13421-0F90-7969-F9C5-7159BC3B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5680ED-2AF1-4B2F-A48F-407C321F36A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/>
              <p:nvPr/>
            </p:nvSpPr>
            <p:spPr>
              <a:xfrm>
                <a:off x="195207" y="971550"/>
                <a:ext cx="8558373" cy="3612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time, and one worker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∗(1−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nary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worker is working on a given packing order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Workers can only work during their availability windows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7" y="971550"/>
                <a:ext cx="8558373" cy="3612399"/>
              </a:xfrm>
              <a:prstGeom prst="rect">
                <a:avLst/>
              </a:prstGeom>
              <a:blipFill>
                <a:blip r:embed="rId2"/>
                <a:stretch>
                  <a:fillRect l="-427" t="-67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76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50DA-56C6-347C-EC57-0BF87219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B1B8E65F-0C5A-B062-5F38-E2D1F417DC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3581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Movement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−1 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 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/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∗(1−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))</m:t>
                                            </m:r>
                                          </m:e>
                                        </m:nary>
                                      </m:sub>
                                      <m:sup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worker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in use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3581109"/>
              </a:xfrm>
              <a:prstGeom prst="rect">
                <a:avLst/>
              </a:prstGeom>
              <a:blipFill>
                <a:blip r:embed="rId2"/>
                <a:stretch>
                  <a:fillRect l="-542" t="-68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59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A5877-DEA7-5CC9-4DFB-0355FEBE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B996B68-61F0-8A74-9E73-EDA176A50B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6251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Start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Completion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Earliness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6251198"/>
              </a:xfrm>
              <a:prstGeom prst="rect">
                <a:avLst/>
              </a:prstGeom>
              <a:blipFill>
                <a:blip r:embed="rId2"/>
                <a:stretch>
                  <a:fillRect l="-407" t="-39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5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0957E-51C0-7FDB-F819-4FCBDD9B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9622EF5-3E1C-2BB6-21B9-32D8AC538A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Flow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indicator (order </a:t>
                </a:r>
                <a:r>
                  <a:rPr lang="en-US" dirty="0" err="1"/>
                  <a:t>i</a:t>
                </a:r>
                <a:r>
                  <a:rPr lang="en-US" dirty="0"/>
                  <a:t> is being worked on at time t or in inventory)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wip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indicator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)≤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𝑖𝑛𝑣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at time 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wip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𝑖𝑛𝑑𝑖𝑐𝑎𝑡𝑜𝑟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blipFill>
                <a:blip r:embed="rId2"/>
                <a:stretch>
                  <a:fillRect l="-407" t="-42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90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158F7-2B83-4564-7320-57AC67FD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B01E680-F8E4-D313-E8BC-07113955E59E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507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Absolute deviation (the solver will choose only one deviation to be positive at a given time)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𝑎𝑏𝑜𝑣𝑒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𝑏𝑒𝑙𝑜𝑤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5079660"/>
              </a:xfrm>
              <a:prstGeom prst="rect">
                <a:avLst/>
              </a:prstGeom>
              <a:blipFill>
                <a:blip r:embed="rId2"/>
                <a:stretch>
                  <a:fillRect l="-475" t="-48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3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D5931-B5FD-BCAA-FFEB-082CA50E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00347B19-D3DF-1F8C-6831-6AB3FB858008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3C9C45-D76C-3C9F-082C-73BF5A77353D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399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changes between periods (the solver will choose only one deviation to be positive at a given time)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3C9C45-D76C-3C9F-082C-73BF5A773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3992888"/>
              </a:xfrm>
              <a:prstGeom prst="rect">
                <a:avLst/>
              </a:prstGeom>
              <a:blipFill>
                <a:blip r:embed="rId2"/>
                <a:stretch>
                  <a:fillRect l="-475" t="-611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30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FC076-D2F4-6595-98A5-546EF88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5E31FCF-C659-6CE0-EBF0-162B9B8B42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5314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𝑢𝑡𝑖𝑙𝑖𝑧𝑒𝑑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+6∗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𝑓𝑙𝑜𝑤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+2∗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𝑐h𝑎𝑛𝑔𝑒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5314725"/>
              </a:xfrm>
              <a:prstGeom prst="rect">
                <a:avLst/>
              </a:prstGeom>
              <a:blipFill>
                <a:blip r:embed="rId2"/>
                <a:stretch>
                  <a:fillRect l="-591" t="-574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74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1</cp:revision>
  <dcterms:created xsi:type="dcterms:W3CDTF">2025-11-10T21:26:02Z</dcterms:created>
  <dcterms:modified xsi:type="dcterms:W3CDTF">2025-11-10T21:26:59Z</dcterms:modified>
</cp:coreProperties>
</file>